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6"/>
    <p:sldId id="257" r:id="rId17"/>
    <p:sldId id="258" r:id="rId18"/>
    <p:sldId id="259" r:id="rId19"/>
    <p:sldId id="260" r:id="rId20"/>
    <p:sldId id="261" r:id="rId21"/>
    <p:sldId id="262" r:id="rId22"/>
    <p:sldId id="263" r:id="rId23"/>
    <p:sldId id="264" r:id="rId24"/>
    <p:sldId id="265" r:id="rId25"/>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Canva Sans" charset="1" panose="020B0503030501040103"/>
      <p:regular r:id="rId10"/>
    </p:embeddedFont>
    <p:embeddedFont>
      <p:font typeface="Canva Sans Bold" charset="1" panose="020B0803030501040103"/>
      <p:regular r:id="rId11"/>
    </p:embeddedFont>
    <p:embeddedFont>
      <p:font typeface="Canva Sans Italics" charset="1" panose="020B0503030501040103"/>
      <p:regular r:id="rId12"/>
    </p:embeddedFont>
    <p:embeddedFont>
      <p:font typeface="Canva Sans Bold Italics" charset="1" panose="020B0803030501040103"/>
      <p:regular r:id="rId13"/>
    </p:embeddedFont>
    <p:embeddedFont>
      <p:font typeface="Canva Sans Medium" charset="1" panose="020B0603030501040103"/>
      <p:regular r:id="rId14"/>
    </p:embeddedFont>
    <p:embeddedFont>
      <p:font typeface="Canva Sans Medium Italics" charset="1" panose="020B06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slides/slide1.xml" Type="http://schemas.openxmlformats.org/officeDocument/2006/relationships/slide"/><Relationship Id="rId17" Target="slides/slide2.xml" Type="http://schemas.openxmlformats.org/officeDocument/2006/relationships/slide"/><Relationship Id="rId18" Target="slides/slide3.xml" Type="http://schemas.openxmlformats.org/officeDocument/2006/relationships/slide"/><Relationship Id="rId19" Target="slides/slide4.xml" Type="http://schemas.openxmlformats.org/officeDocument/2006/relationships/slide"/><Relationship Id="rId2" Target="presProps.xml" Type="http://schemas.openxmlformats.org/officeDocument/2006/relationships/presProps"/><Relationship Id="rId20" Target="slides/slide5.xml" Type="http://schemas.openxmlformats.org/officeDocument/2006/relationships/slide"/><Relationship Id="rId21" Target="slides/slide6.xml" Type="http://schemas.openxmlformats.org/officeDocument/2006/relationships/slide"/><Relationship Id="rId22" Target="slides/slide7.xml" Type="http://schemas.openxmlformats.org/officeDocument/2006/relationships/slide"/><Relationship Id="rId23" Target="slides/slide8.xml" Type="http://schemas.openxmlformats.org/officeDocument/2006/relationships/slide"/><Relationship Id="rId24" Target="slides/slide9.xml" Type="http://schemas.openxmlformats.org/officeDocument/2006/relationships/slide"/><Relationship Id="rId25" Target="slides/slide10.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81784" y="989363"/>
            <a:ext cx="16524432" cy="5386965"/>
            <a:chOff x="0" y="0"/>
            <a:chExt cx="22032576" cy="7182620"/>
          </a:xfrm>
        </p:grpSpPr>
        <p:sp>
          <p:nvSpPr>
            <p:cNvPr name="Freeform 9" id="9"/>
            <p:cNvSpPr/>
            <p:nvPr/>
          </p:nvSpPr>
          <p:spPr>
            <a:xfrm flipH="false" flipV="false" rot="0">
              <a:off x="0" y="0"/>
              <a:ext cx="22032576" cy="7182620"/>
            </a:xfrm>
            <a:custGeom>
              <a:avLst/>
              <a:gdLst/>
              <a:ahLst/>
              <a:cxnLst/>
              <a:rect r="r" b="b" t="t" l="l"/>
              <a:pathLst>
                <a:path h="7182620" w="22032576">
                  <a:moveTo>
                    <a:pt x="0" y="0"/>
                  </a:moveTo>
                  <a:lnTo>
                    <a:pt x="22032576" y="0"/>
                  </a:lnTo>
                  <a:lnTo>
                    <a:pt x="22032576" y="7182620"/>
                  </a:lnTo>
                  <a:lnTo>
                    <a:pt x="0" y="7182620"/>
                  </a:lnTo>
                  <a:lnTo>
                    <a:pt x="0" y="0"/>
                  </a:lnTo>
                  <a:close/>
                </a:path>
              </a:pathLst>
            </a:custGeom>
            <a:blipFill>
              <a:blip r:embed="rId2">
                <a:alphaModFix amt="68000"/>
              </a:blip>
              <a:stretch>
                <a:fillRect l="0" t="0" r="0" b="0"/>
              </a:stretch>
            </a:blipFill>
          </p:spPr>
        </p:sp>
        <p:grpSp>
          <p:nvGrpSpPr>
            <p:cNvPr name="Group 10" id="10"/>
            <p:cNvGrpSpPr/>
            <p:nvPr/>
          </p:nvGrpSpPr>
          <p:grpSpPr>
            <a:xfrm rot="0">
              <a:off x="1342616" y="1713653"/>
              <a:ext cx="19347344" cy="3328525"/>
              <a:chOff x="0" y="0"/>
              <a:chExt cx="3821698" cy="657486"/>
            </a:xfrm>
          </p:grpSpPr>
          <p:sp>
            <p:nvSpPr>
              <p:cNvPr name="Freeform 11" id="11"/>
              <p:cNvSpPr/>
              <p:nvPr/>
            </p:nvSpPr>
            <p:spPr>
              <a:xfrm flipH="false" flipV="false" rot="0">
                <a:off x="0" y="0"/>
                <a:ext cx="3821698" cy="657486"/>
              </a:xfrm>
              <a:custGeom>
                <a:avLst/>
                <a:gdLst/>
                <a:ahLst/>
                <a:cxnLst/>
                <a:rect r="r" b="b" t="t" l="l"/>
                <a:pathLst>
                  <a:path h="657486" w="3821698">
                    <a:moveTo>
                      <a:pt x="27210" y="0"/>
                    </a:moveTo>
                    <a:lnTo>
                      <a:pt x="3794487" y="0"/>
                    </a:lnTo>
                    <a:cubicBezTo>
                      <a:pt x="3801704" y="0"/>
                      <a:pt x="3808625" y="2867"/>
                      <a:pt x="3813728" y="7970"/>
                    </a:cubicBezTo>
                    <a:cubicBezTo>
                      <a:pt x="3818831" y="13073"/>
                      <a:pt x="3821698" y="19994"/>
                      <a:pt x="3821698" y="27210"/>
                    </a:cubicBezTo>
                    <a:lnTo>
                      <a:pt x="3821698" y="630276"/>
                    </a:lnTo>
                    <a:cubicBezTo>
                      <a:pt x="3821698" y="637493"/>
                      <a:pt x="3818831" y="644414"/>
                      <a:pt x="3813728" y="649517"/>
                    </a:cubicBezTo>
                    <a:cubicBezTo>
                      <a:pt x="3808625" y="654620"/>
                      <a:pt x="3801704" y="657486"/>
                      <a:pt x="3794487" y="657486"/>
                    </a:cubicBezTo>
                    <a:lnTo>
                      <a:pt x="27210" y="657486"/>
                    </a:lnTo>
                    <a:cubicBezTo>
                      <a:pt x="19994" y="657486"/>
                      <a:pt x="13073" y="654620"/>
                      <a:pt x="7970" y="649517"/>
                    </a:cubicBezTo>
                    <a:cubicBezTo>
                      <a:pt x="2867" y="644414"/>
                      <a:pt x="0" y="637493"/>
                      <a:pt x="0" y="630276"/>
                    </a:cubicBezTo>
                    <a:lnTo>
                      <a:pt x="0" y="27210"/>
                    </a:lnTo>
                    <a:cubicBezTo>
                      <a:pt x="0" y="19994"/>
                      <a:pt x="2867" y="13073"/>
                      <a:pt x="7970" y="7970"/>
                    </a:cubicBezTo>
                    <a:cubicBezTo>
                      <a:pt x="13073" y="2867"/>
                      <a:pt x="19994" y="0"/>
                      <a:pt x="27210" y="0"/>
                    </a:cubicBezTo>
                    <a:close/>
                  </a:path>
                </a:pathLst>
              </a:custGeom>
              <a:solidFill>
                <a:srgbClr val="953F10"/>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564479" y="2446610"/>
              <a:ext cx="18903618" cy="1786410"/>
            </a:xfrm>
            <a:prstGeom prst="rect">
              <a:avLst/>
            </a:prstGeom>
          </p:spPr>
          <p:txBody>
            <a:bodyPr anchor="t" rtlCol="false" tIns="0" lIns="0" bIns="0" rIns="0">
              <a:spAutoFit/>
            </a:bodyPr>
            <a:lstStyle/>
            <a:p>
              <a:pPr algn="ctr">
                <a:lnSpc>
                  <a:spcPts val="5442"/>
                </a:lnSpc>
              </a:pPr>
              <a:r>
                <a:rPr lang="en-US" sz="3887">
                  <a:solidFill>
                    <a:srgbClr val="FFFFFF"/>
                  </a:solidFill>
                  <a:latin typeface="Canva Sans Bold"/>
                </a:rPr>
                <a:t>Business Data Management Project - Analysis of Revenue Trend and Sales Volume of a Local Multipurpose Store</a:t>
              </a:r>
            </a:p>
          </p:txBody>
        </p:sp>
      </p:grpSp>
      <p:sp>
        <p:nvSpPr>
          <p:cNvPr name="TextBox 14" id="14"/>
          <p:cNvSpPr txBox="true"/>
          <p:nvPr/>
        </p:nvSpPr>
        <p:spPr>
          <a:xfrm rot="0">
            <a:off x="6543465" y="5752404"/>
            <a:ext cx="5201070" cy="663261"/>
          </a:xfrm>
          <a:prstGeom prst="rect">
            <a:avLst/>
          </a:prstGeom>
        </p:spPr>
        <p:txBody>
          <a:bodyPr anchor="t" rtlCol="false" tIns="0" lIns="0" bIns="0" rIns="0">
            <a:spAutoFit/>
          </a:bodyPr>
          <a:lstStyle/>
          <a:p>
            <a:pPr algn="ctr">
              <a:lnSpc>
                <a:spcPts val="5442"/>
              </a:lnSpc>
            </a:pPr>
            <a:r>
              <a:rPr lang="en-US" sz="3887">
                <a:solidFill>
                  <a:srgbClr val="000000"/>
                </a:solidFill>
                <a:latin typeface="Canva Sans"/>
              </a:rPr>
              <a:t>Soham Bhattacharya</a:t>
            </a:r>
          </a:p>
        </p:txBody>
      </p:sp>
      <p:sp>
        <p:nvSpPr>
          <p:cNvPr name="TextBox 15" id="15"/>
          <p:cNvSpPr txBox="true"/>
          <p:nvPr/>
        </p:nvSpPr>
        <p:spPr>
          <a:xfrm rot="0">
            <a:off x="5903663" y="6766853"/>
            <a:ext cx="6480674" cy="461185"/>
          </a:xfrm>
          <a:prstGeom prst="rect">
            <a:avLst/>
          </a:prstGeom>
        </p:spPr>
        <p:txBody>
          <a:bodyPr anchor="t" rtlCol="false" tIns="0" lIns="0" bIns="0" rIns="0">
            <a:spAutoFit/>
          </a:bodyPr>
          <a:lstStyle/>
          <a:p>
            <a:pPr algn="ctr">
              <a:lnSpc>
                <a:spcPts val="3745"/>
              </a:lnSpc>
            </a:pPr>
            <a:r>
              <a:rPr lang="en-US" sz="2675">
                <a:solidFill>
                  <a:srgbClr val="000000"/>
                </a:solidFill>
                <a:latin typeface="Canva Sans Italics"/>
              </a:rPr>
              <a:t>Indian Institute of Technology, Madras</a:t>
            </a:r>
          </a:p>
        </p:txBody>
      </p:sp>
      <p:sp>
        <p:nvSpPr>
          <p:cNvPr name="TextBox 16" id="16"/>
          <p:cNvSpPr txBox="true"/>
          <p:nvPr/>
        </p:nvSpPr>
        <p:spPr>
          <a:xfrm rot="0">
            <a:off x="5903663" y="7377913"/>
            <a:ext cx="6480674" cy="461185"/>
          </a:xfrm>
          <a:prstGeom prst="rect">
            <a:avLst/>
          </a:prstGeom>
        </p:spPr>
        <p:txBody>
          <a:bodyPr anchor="t" rtlCol="false" tIns="0" lIns="0" bIns="0" rIns="0">
            <a:spAutoFit/>
          </a:bodyPr>
          <a:lstStyle/>
          <a:p>
            <a:pPr algn="ctr">
              <a:lnSpc>
                <a:spcPts val="3745"/>
              </a:lnSpc>
            </a:pPr>
            <a:r>
              <a:rPr lang="en-US" sz="2675">
                <a:solidFill>
                  <a:srgbClr val="000000"/>
                </a:solidFill>
                <a:latin typeface="Canva Sans Italics"/>
              </a:rPr>
              <a:t>21f3001729@ds.study.iitm.ac.in</a:t>
            </a:r>
          </a:p>
        </p:txBody>
      </p:sp>
      <p:sp>
        <p:nvSpPr>
          <p:cNvPr name="TextBox 17" id="17"/>
          <p:cNvSpPr txBox="true"/>
          <p:nvPr/>
        </p:nvSpPr>
        <p:spPr>
          <a:xfrm rot="0">
            <a:off x="6930782" y="8221819"/>
            <a:ext cx="4426437" cy="566301"/>
          </a:xfrm>
          <a:prstGeom prst="rect">
            <a:avLst/>
          </a:prstGeom>
        </p:spPr>
        <p:txBody>
          <a:bodyPr anchor="t" rtlCol="false" tIns="0" lIns="0" bIns="0" rIns="0">
            <a:spAutoFit/>
          </a:bodyPr>
          <a:lstStyle/>
          <a:p>
            <a:pPr algn="ctr">
              <a:lnSpc>
                <a:spcPts val="4631"/>
              </a:lnSpc>
            </a:pPr>
            <a:r>
              <a:rPr lang="en-US" sz="3308">
                <a:solidFill>
                  <a:srgbClr val="000000"/>
                </a:solidFill>
                <a:latin typeface="Canva Sans"/>
              </a:rPr>
              <a:t>August 28, 2023</a:t>
            </a:r>
          </a:p>
        </p:txBody>
      </p:sp>
      <p:sp>
        <p:nvSpPr>
          <p:cNvPr name="TextBox 18" id="18"/>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9" id="19"/>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20" id="20"/>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grpSp>
        <p:nvGrpSpPr>
          <p:cNvPr name="Group 21" id="21"/>
          <p:cNvGrpSpPr/>
          <p:nvPr/>
        </p:nvGrpSpPr>
        <p:grpSpPr>
          <a:xfrm rot="0">
            <a:off x="17597350" y="9807295"/>
            <a:ext cx="930218" cy="876849"/>
            <a:chOff x="0" y="0"/>
            <a:chExt cx="244996" cy="230940"/>
          </a:xfrm>
        </p:grpSpPr>
        <p:sp>
          <p:nvSpPr>
            <p:cNvPr name="Freeform 22" id="22"/>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23" id="2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1/10</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5" id="15"/>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6" id="16"/>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7" id="17"/>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2/10</a:t>
            </a:r>
          </a:p>
        </p:txBody>
      </p:sp>
      <p:sp>
        <p:nvSpPr>
          <p:cNvPr name="TextBox 18" id="18"/>
          <p:cNvSpPr txBox="true"/>
          <p:nvPr/>
        </p:nvSpPr>
        <p:spPr>
          <a:xfrm rot="0">
            <a:off x="443112" y="229515"/>
            <a:ext cx="2449859" cy="663261"/>
          </a:xfrm>
          <a:prstGeom prst="rect">
            <a:avLst/>
          </a:prstGeom>
        </p:spPr>
        <p:txBody>
          <a:bodyPr anchor="t" rtlCol="false" tIns="0" lIns="0" bIns="0" rIns="0">
            <a:spAutoFit/>
          </a:bodyPr>
          <a:lstStyle/>
          <a:p>
            <a:pPr algn="ctr">
              <a:lnSpc>
                <a:spcPts val="5442"/>
              </a:lnSpc>
            </a:pPr>
            <a:r>
              <a:rPr lang="en-US" sz="3887">
                <a:solidFill>
                  <a:srgbClr val="FFFFFF"/>
                </a:solidFill>
                <a:latin typeface="Canva Sans"/>
              </a:rPr>
              <a:t>Overview</a:t>
            </a:r>
          </a:p>
        </p:txBody>
      </p:sp>
      <p:sp>
        <p:nvSpPr>
          <p:cNvPr name="TextBox 19" id="19"/>
          <p:cNvSpPr txBox="true"/>
          <p:nvPr/>
        </p:nvSpPr>
        <p:spPr>
          <a:xfrm rot="0">
            <a:off x="1028700" y="1894205"/>
            <a:ext cx="13162909" cy="6835461"/>
          </a:xfrm>
          <a:prstGeom prst="rect">
            <a:avLst/>
          </a:prstGeom>
        </p:spPr>
        <p:txBody>
          <a:bodyPr anchor="t" rtlCol="false" tIns="0" lIns="0" bIns="0" rIns="0">
            <a:spAutoFit/>
          </a:bodyPr>
          <a:lstStyle/>
          <a:p>
            <a:pPr marL="839282" indent="-419641" lvl="1">
              <a:lnSpc>
                <a:spcPts val="5442"/>
              </a:lnSpc>
              <a:buFont typeface="Arial"/>
              <a:buChar char="•"/>
            </a:pPr>
            <a:r>
              <a:rPr lang="en-US" sz="3887">
                <a:solidFill>
                  <a:srgbClr val="000000"/>
                </a:solidFill>
                <a:latin typeface="Canva Sans"/>
              </a:rPr>
              <a:t>  Data Collection</a:t>
            </a:r>
          </a:p>
          <a:p>
            <a:pPr marL="839282" indent="-419641" lvl="1">
              <a:lnSpc>
                <a:spcPts val="5442"/>
              </a:lnSpc>
              <a:buFont typeface="Arial"/>
              <a:buChar char="•"/>
            </a:pPr>
            <a:r>
              <a:rPr lang="en-US" sz="3887">
                <a:solidFill>
                  <a:srgbClr val="000000"/>
                </a:solidFill>
                <a:latin typeface="Canva Sans"/>
              </a:rPr>
              <a:t>  Clean Dataset</a:t>
            </a:r>
          </a:p>
          <a:p>
            <a:pPr marL="839282" indent="-419641" lvl="1">
              <a:lnSpc>
                <a:spcPts val="5442"/>
              </a:lnSpc>
              <a:buFont typeface="Arial"/>
              <a:buChar char="•"/>
            </a:pPr>
            <a:r>
              <a:rPr lang="en-US" sz="3887">
                <a:solidFill>
                  <a:srgbClr val="000000"/>
                </a:solidFill>
                <a:latin typeface="Canva Sans"/>
              </a:rPr>
              <a:t>  SKU Dictionary</a:t>
            </a:r>
          </a:p>
          <a:p>
            <a:pPr marL="839282" indent="-419641" lvl="1">
              <a:lnSpc>
                <a:spcPts val="5442"/>
              </a:lnSpc>
              <a:buFont typeface="Arial"/>
              <a:buChar char="•"/>
            </a:pPr>
            <a:r>
              <a:rPr lang="en-US" sz="3887">
                <a:solidFill>
                  <a:srgbClr val="000000"/>
                </a:solidFill>
                <a:latin typeface="Canva Sans"/>
              </a:rPr>
              <a:t>  General Analysis on Sales Data/Revenue Data</a:t>
            </a:r>
          </a:p>
          <a:p>
            <a:pPr marL="1678563" indent="-559521" lvl="2">
              <a:lnSpc>
                <a:spcPts val="5442"/>
              </a:lnSpc>
              <a:buFont typeface="Arial"/>
              <a:buChar char="•"/>
            </a:pPr>
            <a:r>
              <a:rPr lang="en-US" sz="3887">
                <a:solidFill>
                  <a:srgbClr val="000000"/>
                </a:solidFill>
                <a:latin typeface="Canva Sans"/>
              </a:rPr>
              <a:t>Sales Pareto and </a:t>
            </a:r>
            <a:r>
              <a:rPr lang="en-US" sz="3887">
                <a:solidFill>
                  <a:srgbClr val="000000"/>
                </a:solidFill>
                <a:latin typeface="Canva Sans"/>
              </a:rPr>
              <a:t>Revenue Pareto</a:t>
            </a:r>
          </a:p>
          <a:p>
            <a:pPr marL="1678563" indent="-559521" lvl="2">
              <a:lnSpc>
                <a:spcPts val="5442"/>
              </a:lnSpc>
              <a:buFont typeface="Arial"/>
              <a:buChar char="•"/>
            </a:pPr>
            <a:r>
              <a:rPr lang="en-US" sz="3887">
                <a:solidFill>
                  <a:srgbClr val="000000"/>
                </a:solidFill>
                <a:latin typeface="Canva Sans"/>
              </a:rPr>
              <a:t>Daily Sales and Daily Revenue</a:t>
            </a:r>
          </a:p>
          <a:p>
            <a:pPr marL="839282" indent="-419641" lvl="1">
              <a:lnSpc>
                <a:spcPts val="5442"/>
              </a:lnSpc>
              <a:buFont typeface="Arial"/>
              <a:buChar char="•"/>
            </a:pPr>
            <a:r>
              <a:rPr lang="en-US" sz="3887">
                <a:solidFill>
                  <a:srgbClr val="000000"/>
                </a:solidFill>
                <a:latin typeface="Canva Sans"/>
              </a:rPr>
              <a:t>  Revenue generated per Business Unit</a:t>
            </a:r>
          </a:p>
          <a:p>
            <a:pPr marL="839282" indent="-419641" lvl="1">
              <a:lnSpc>
                <a:spcPts val="5442"/>
              </a:lnSpc>
              <a:buFont typeface="Arial"/>
              <a:buChar char="•"/>
            </a:pPr>
            <a:r>
              <a:rPr lang="en-US" sz="3887">
                <a:solidFill>
                  <a:srgbClr val="000000"/>
                </a:solidFill>
                <a:latin typeface="Canva Sans"/>
              </a:rPr>
              <a:t>  Sales Trend</a:t>
            </a:r>
          </a:p>
          <a:p>
            <a:pPr marL="1678563" indent="-559521" lvl="2">
              <a:lnSpc>
                <a:spcPts val="5442"/>
              </a:lnSpc>
              <a:buFont typeface="Arial"/>
              <a:buChar char="•"/>
            </a:pPr>
            <a:r>
              <a:rPr lang="en-US" sz="3887">
                <a:solidFill>
                  <a:srgbClr val="000000"/>
                </a:solidFill>
                <a:latin typeface="Canva Sans"/>
              </a:rPr>
              <a:t>Sales trend pattern for important categories</a:t>
            </a:r>
          </a:p>
          <a:p>
            <a:pPr marL="1678563" indent="-559521" lvl="2">
              <a:lnSpc>
                <a:spcPts val="5442"/>
              </a:lnSpc>
              <a:buFont typeface="Arial"/>
              <a:buChar char="•"/>
            </a:pPr>
            <a:r>
              <a:rPr lang="en-US" sz="3887">
                <a:solidFill>
                  <a:srgbClr val="000000"/>
                </a:solidFill>
                <a:latin typeface="Canva Sans"/>
              </a:rPr>
              <a:t>Observations based on the trend patterns</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5" id="15"/>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6" id="16"/>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7" id="17"/>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3/10</a:t>
            </a:r>
          </a:p>
        </p:txBody>
      </p:sp>
      <p:sp>
        <p:nvSpPr>
          <p:cNvPr name="TextBox 18" id="18"/>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Data Collection</a:t>
            </a:r>
          </a:p>
        </p:txBody>
      </p:sp>
      <p:sp>
        <p:nvSpPr>
          <p:cNvPr name="TextBox 19" id="19"/>
          <p:cNvSpPr txBox="true"/>
          <p:nvPr/>
        </p:nvSpPr>
        <p:spPr>
          <a:xfrm rot="0">
            <a:off x="1028700" y="2813104"/>
            <a:ext cx="16816188" cy="3406461"/>
          </a:xfrm>
          <a:prstGeom prst="rect">
            <a:avLst/>
          </a:prstGeom>
        </p:spPr>
        <p:txBody>
          <a:bodyPr anchor="t" rtlCol="false" tIns="0" lIns="0" bIns="0" rIns="0">
            <a:spAutoFit/>
          </a:bodyPr>
          <a:lstStyle/>
          <a:p>
            <a:pPr>
              <a:lnSpc>
                <a:spcPts val="5442"/>
              </a:lnSpc>
            </a:pPr>
            <a:r>
              <a:rPr lang="en-US" sz="3887">
                <a:solidFill>
                  <a:srgbClr val="000000"/>
                </a:solidFill>
                <a:latin typeface="Canva Sans Bold"/>
              </a:rPr>
              <a:t>Date                 Drinking Water bottles    Soda               Bourbon    ...</a:t>
            </a:r>
          </a:p>
          <a:p>
            <a:pPr>
              <a:lnSpc>
                <a:spcPts val="5442"/>
              </a:lnSpc>
            </a:pPr>
            <a:r>
              <a:rPr lang="en-US" sz="3887">
                <a:solidFill>
                  <a:srgbClr val="000000"/>
                </a:solidFill>
                <a:latin typeface="Canva Sans Bold"/>
              </a:rPr>
              <a:t>Category        Beverages                             Beverages     Biscuits      ...</a:t>
            </a:r>
          </a:p>
          <a:p>
            <a:pPr>
              <a:lnSpc>
                <a:spcPts val="5442"/>
              </a:lnSpc>
            </a:pPr>
            <a:r>
              <a:rPr lang="en-US" sz="3887">
                <a:solidFill>
                  <a:srgbClr val="000000"/>
                </a:solidFill>
                <a:latin typeface="Canva Sans"/>
              </a:rPr>
              <a:t>08-01-2022          18                                          18                    14             ...</a:t>
            </a:r>
          </a:p>
          <a:p>
            <a:pPr>
              <a:lnSpc>
                <a:spcPts val="5442"/>
              </a:lnSpc>
            </a:pPr>
            <a:r>
              <a:rPr lang="en-US" sz="3887">
                <a:solidFill>
                  <a:srgbClr val="000000"/>
                </a:solidFill>
                <a:latin typeface="Canva Sans"/>
              </a:rPr>
              <a:t>08-02-2022          21                                          22                    15             ...</a:t>
            </a:r>
          </a:p>
          <a:p>
            <a:pPr>
              <a:lnSpc>
                <a:spcPts val="5442"/>
              </a:lnSpc>
            </a:pPr>
            <a:r>
              <a:rPr lang="en-US" sz="3887">
                <a:solidFill>
                  <a:srgbClr val="000000"/>
                </a:solidFill>
                <a:latin typeface="Canva Sans"/>
              </a:rPr>
              <a:t>...</a:t>
            </a:r>
          </a:p>
        </p:txBody>
      </p:sp>
      <p:sp>
        <p:nvSpPr>
          <p:cNvPr name="TextBox 20" id="20"/>
          <p:cNvSpPr txBox="true"/>
          <p:nvPr/>
        </p:nvSpPr>
        <p:spPr>
          <a:xfrm rot="0">
            <a:off x="1028700" y="1824112"/>
            <a:ext cx="16816188" cy="663261"/>
          </a:xfrm>
          <a:prstGeom prst="rect">
            <a:avLst/>
          </a:prstGeom>
        </p:spPr>
        <p:txBody>
          <a:bodyPr anchor="t" rtlCol="false" tIns="0" lIns="0" bIns="0" rIns="0">
            <a:spAutoFit/>
          </a:bodyPr>
          <a:lstStyle/>
          <a:p>
            <a:pPr>
              <a:lnSpc>
                <a:spcPts val="5442"/>
              </a:lnSpc>
            </a:pPr>
            <a:r>
              <a:rPr lang="en-US" sz="3887">
                <a:solidFill>
                  <a:srgbClr val="000000"/>
                </a:solidFill>
                <a:latin typeface="Canva Sans Bold"/>
              </a:rPr>
              <a:t>Data Collected</a:t>
            </a:r>
          </a:p>
        </p:txBody>
      </p:sp>
      <p:sp>
        <p:nvSpPr>
          <p:cNvPr name="AutoShape 21" id="21"/>
          <p:cNvSpPr/>
          <p:nvPr/>
        </p:nvSpPr>
        <p:spPr>
          <a:xfrm>
            <a:off x="1028700" y="4242148"/>
            <a:ext cx="15604132" cy="0"/>
          </a:xfrm>
          <a:prstGeom prst="line">
            <a:avLst/>
          </a:prstGeom>
          <a:ln cap="flat" w="38100">
            <a:solidFill>
              <a:srgbClr val="000000"/>
            </a:solidFill>
            <a:prstDash val="solid"/>
            <a:headEnd type="none" len="sm" w="sm"/>
            <a:tailEnd type="none" len="sm" w="sm"/>
          </a:ln>
        </p:spPr>
      </p:sp>
      <p:sp>
        <p:nvSpPr>
          <p:cNvPr name="AutoShape 22" id="22"/>
          <p:cNvSpPr/>
          <p:nvPr/>
        </p:nvSpPr>
        <p:spPr>
          <a:xfrm>
            <a:off x="1028700" y="2908354"/>
            <a:ext cx="15604132" cy="0"/>
          </a:xfrm>
          <a:prstGeom prst="line">
            <a:avLst/>
          </a:prstGeom>
          <a:ln cap="flat" w="38100">
            <a:solidFill>
              <a:srgbClr val="000000"/>
            </a:solidFill>
            <a:prstDash val="solid"/>
            <a:headEnd type="none" len="sm" w="sm"/>
            <a:tailEnd type="none" len="sm" w="sm"/>
          </a:ln>
        </p:spPr>
      </p:sp>
      <p:sp>
        <p:nvSpPr>
          <p:cNvPr name="TextBox 23" id="23"/>
          <p:cNvSpPr txBox="true"/>
          <p:nvPr/>
        </p:nvSpPr>
        <p:spPr>
          <a:xfrm rot="0">
            <a:off x="1028700" y="6348528"/>
            <a:ext cx="16145779" cy="2720594"/>
          </a:xfrm>
          <a:prstGeom prst="rect">
            <a:avLst/>
          </a:prstGeom>
        </p:spPr>
        <p:txBody>
          <a:bodyPr anchor="t" rtlCol="false" tIns="0" lIns="0" bIns="0" rIns="0">
            <a:spAutoFit/>
          </a:bodyPr>
          <a:lstStyle/>
          <a:p>
            <a:pPr algn="just">
              <a:lnSpc>
                <a:spcPts val="5445"/>
              </a:lnSpc>
            </a:pPr>
            <a:r>
              <a:rPr lang="en-US" sz="3889">
                <a:solidFill>
                  <a:srgbClr val="582308"/>
                </a:solidFill>
                <a:latin typeface="Canva Sans"/>
              </a:rPr>
              <a:t>Table:</a:t>
            </a:r>
            <a:r>
              <a:rPr lang="en-US" sz="3889">
                <a:solidFill>
                  <a:srgbClr val="000000"/>
                </a:solidFill>
                <a:latin typeface="Canva Sans"/>
              </a:rPr>
              <a:t> The data supplied has 29 columns, one for Date and remaining for different product items whose categories were mentioned in the row beneath. Data Pre-processing and cleaning and EDA on this cleaned data was performed using Microsoft Excel.</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5" id="15"/>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6" id="16"/>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7" id="17"/>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4/10</a:t>
            </a:r>
          </a:p>
        </p:txBody>
      </p:sp>
      <p:sp>
        <p:nvSpPr>
          <p:cNvPr name="TextBox 18" id="18"/>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Clean Dataset</a:t>
            </a:r>
          </a:p>
        </p:txBody>
      </p:sp>
      <p:sp>
        <p:nvSpPr>
          <p:cNvPr name="TextBox 19" id="19"/>
          <p:cNvSpPr txBox="true"/>
          <p:nvPr/>
        </p:nvSpPr>
        <p:spPr>
          <a:xfrm rot="0">
            <a:off x="1028700" y="2068028"/>
            <a:ext cx="16816188" cy="663261"/>
          </a:xfrm>
          <a:prstGeom prst="rect">
            <a:avLst/>
          </a:prstGeom>
        </p:spPr>
        <p:txBody>
          <a:bodyPr anchor="t" rtlCol="false" tIns="0" lIns="0" bIns="0" rIns="0">
            <a:spAutoFit/>
          </a:bodyPr>
          <a:lstStyle/>
          <a:p>
            <a:pPr>
              <a:lnSpc>
                <a:spcPts val="5442"/>
              </a:lnSpc>
            </a:pPr>
            <a:r>
              <a:rPr lang="en-US" sz="3887">
                <a:solidFill>
                  <a:srgbClr val="000000"/>
                </a:solidFill>
                <a:latin typeface="Canva Sans Bold"/>
              </a:rPr>
              <a:t>Cleansed Dataset </a:t>
            </a:r>
          </a:p>
        </p:txBody>
      </p:sp>
      <p:grpSp>
        <p:nvGrpSpPr>
          <p:cNvPr name="Group 20" id="20"/>
          <p:cNvGrpSpPr/>
          <p:nvPr/>
        </p:nvGrpSpPr>
        <p:grpSpPr>
          <a:xfrm rot="0">
            <a:off x="1028700" y="3217064"/>
            <a:ext cx="16561769" cy="2312257"/>
            <a:chOff x="0" y="0"/>
            <a:chExt cx="22082359" cy="3083009"/>
          </a:xfrm>
        </p:grpSpPr>
        <p:sp>
          <p:nvSpPr>
            <p:cNvPr name="TextBox 21" id="21"/>
            <p:cNvSpPr txBox="true"/>
            <p:nvPr/>
          </p:nvSpPr>
          <p:spPr>
            <a:xfrm rot="0">
              <a:off x="12952" y="-57150"/>
              <a:ext cx="22069407" cy="3140159"/>
            </a:xfrm>
            <a:prstGeom prst="rect">
              <a:avLst/>
            </a:prstGeom>
          </p:spPr>
          <p:txBody>
            <a:bodyPr anchor="t" rtlCol="false" tIns="0" lIns="0" bIns="0" rIns="0">
              <a:spAutoFit/>
            </a:bodyPr>
            <a:lstStyle/>
            <a:p>
              <a:pPr>
                <a:lnSpc>
                  <a:spcPts val="4295"/>
                </a:lnSpc>
              </a:pPr>
              <a:r>
                <a:rPr lang="en-US" sz="3067">
                  <a:solidFill>
                    <a:srgbClr val="000000"/>
                  </a:solidFill>
                  <a:latin typeface="Canva Sans Bold"/>
                </a:rPr>
                <a:t>Date           Day      Month   Category   SKU   Item-Name             Price   Sales   Revenue</a:t>
              </a:r>
            </a:p>
            <a:p>
              <a:pPr>
                <a:lnSpc>
                  <a:spcPts val="3419"/>
                </a:lnSpc>
              </a:pPr>
              <a:r>
                <a:rPr lang="en-US" sz="2442">
                  <a:solidFill>
                    <a:srgbClr val="000000"/>
                  </a:solidFill>
                  <a:latin typeface="Canva Sans"/>
                </a:rPr>
                <a:t>08-01-2022   Mon         Aug-22      Beverages     BE01    Drinking Water Bottle   Rs.20          18            Rs.360</a:t>
              </a:r>
            </a:p>
            <a:p>
              <a:pPr>
                <a:lnSpc>
                  <a:spcPts val="3419"/>
                </a:lnSpc>
              </a:pPr>
              <a:r>
                <a:rPr lang="en-US" sz="2442">
                  <a:solidFill>
                    <a:srgbClr val="000000"/>
                  </a:solidFill>
                  <a:latin typeface="Canva Sans"/>
                </a:rPr>
                <a:t>08-01-2022   Mon         Aug-22      Beverages     BE02    Drinking Soda                  Rs.15           18            Rs.270</a:t>
              </a:r>
            </a:p>
            <a:p>
              <a:pPr>
                <a:lnSpc>
                  <a:spcPts val="3419"/>
                </a:lnSpc>
              </a:pPr>
              <a:r>
                <a:rPr lang="en-US" sz="2442">
                  <a:solidFill>
                    <a:srgbClr val="000000"/>
                  </a:solidFill>
                  <a:latin typeface="Canva Sans"/>
                </a:rPr>
                <a:t>08-01-2022   Mon         Aug-22      Biscuits          BI01     Bourbon                            Rs.25           14            Rs.350</a:t>
              </a:r>
            </a:p>
            <a:p>
              <a:pPr>
                <a:lnSpc>
                  <a:spcPts val="4295"/>
                </a:lnSpc>
              </a:pPr>
              <a:r>
                <a:rPr lang="en-US" sz="3067">
                  <a:solidFill>
                    <a:srgbClr val="000000"/>
                  </a:solidFill>
                  <a:latin typeface="Canva Sans"/>
                </a:rPr>
                <a:t>...</a:t>
              </a:r>
            </a:p>
          </p:txBody>
        </p:sp>
        <p:sp>
          <p:nvSpPr>
            <p:cNvPr name="AutoShape 22" id="22"/>
            <p:cNvSpPr/>
            <p:nvPr/>
          </p:nvSpPr>
          <p:spPr>
            <a:xfrm>
              <a:off x="0" y="669637"/>
              <a:ext cx="21217573" cy="0"/>
            </a:xfrm>
            <a:prstGeom prst="line">
              <a:avLst/>
            </a:prstGeom>
            <a:ln cap="flat" w="51806">
              <a:solidFill>
                <a:srgbClr val="000000"/>
              </a:solidFill>
              <a:prstDash val="solid"/>
              <a:headEnd type="none" len="sm" w="sm"/>
              <a:tailEnd type="none" len="sm" w="sm"/>
            </a:ln>
          </p:spPr>
        </p:sp>
        <p:sp>
          <p:nvSpPr>
            <p:cNvPr name="AutoShape 23" id="23"/>
            <p:cNvSpPr/>
            <p:nvPr/>
          </p:nvSpPr>
          <p:spPr>
            <a:xfrm>
              <a:off x="0" y="25903"/>
              <a:ext cx="21217573" cy="0"/>
            </a:xfrm>
            <a:prstGeom prst="line">
              <a:avLst/>
            </a:prstGeom>
            <a:ln cap="flat" w="51806">
              <a:solidFill>
                <a:srgbClr val="000000"/>
              </a:solidFill>
              <a:prstDash val="solid"/>
              <a:headEnd type="none" len="sm" w="sm"/>
              <a:tailEnd type="none" len="sm" w="sm"/>
            </a:ln>
          </p:spPr>
        </p:sp>
      </p:grpSp>
      <p:sp>
        <p:nvSpPr>
          <p:cNvPr name="TextBox 24" id="24"/>
          <p:cNvSpPr txBox="true"/>
          <p:nvPr/>
        </p:nvSpPr>
        <p:spPr>
          <a:xfrm rot="0">
            <a:off x="1028700" y="5940182"/>
            <a:ext cx="16145779" cy="2720594"/>
          </a:xfrm>
          <a:prstGeom prst="rect">
            <a:avLst/>
          </a:prstGeom>
        </p:spPr>
        <p:txBody>
          <a:bodyPr anchor="t" rtlCol="false" tIns="0" lIns="0" bIns="0" rIns="0">
            <a:spAutoFit/>
          </a:bodyPr>
          <a:lstStyle/>
          <a:p>
            <a:pPr algn="just">
              <a:lnSpc>
                <a:spcPts val="5445"/>
              </a:lnSpc>
            </a:pPr>
            <a:r>
              <a:rPr lang="en-US" sz="3889">
                <a:solidFill>
                  <a:srgbClr val="582308"/>
                </a:solidFill>
                <a:latin typeface="Canva Sans"/>
              </a:rPr>
              <a:t>Table:</a:t>
            </a:r>
            <a:r>
              <a:rPr lang="en-US" sz="3889">
                <a:solidFill>
                  <a:srgbClr val="000000"/>
                </a:solidFill>
                <a:latin typeface="Canva Sans"/>
              </a:rPr>
              <a:t> The data supplied has 29 columns, one for Date and  remaining for different product items whose categories were mentioned in the row beneath. Data Pre-processing and cleaning and EDA on this cleaned data was performed using Microsoft Excel.</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5" id="15"/>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6" id="16"/>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7" id="17"/>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5/10</a:t>
            </a:r>
          </a:p>
        </p:txBody>
      </p:sp>
      <p:sp>
        <p:nvSpPr>
          <p:cNvPr name="TextBox 18" id="18"/>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SKU Dictionary</a:t>
            </a:r>
          </a:p>
        </p:txBody>
      </p:sp>
      <p:grpSp>
        <p:nvGrpSpPr>
          <p:cNvPr name="Group 19" id="19"/>
          <p:cNvGrpSpPr/>
          <p:nvPr/>
        </p:nvGrpSpPr>
        <p:grpSpPr>
          <a:xfrm rot="0">
            <a:off x="2339812" y="1706269"/>
            <a:ext cx="5943650" cy="6360749"/>
            <a:chOff x="0" y="0"/>
            <a:chExt cx="7924867" cy="8480999"/>
          </a:xfrm>
        </p:grpSpPr>
        <p:sp>
          <p:nvSpPr>
            <p:cNvPr name="TextBox 20" id="20"/>
            <p:cNvSpPr txBox="true"/>
            <p:nvPr/>
          </p:nvSpPr>
          <p:spPr>
            <a:xfrm rot="0">
              <a:off x="0" y="-19050"/>
              <a:ext cx="7924785" cy="8500049"/>
            </a:xfrm>
            <a:prstGeom prst="rect">
              <a:avLst/>
            </a:prstGeom>
          </p:spPr>
          <p:txBody>
            <a:bodyPr anchor="t" rtlCol="false" tIns="0" lIns="0" bIns="0" rIns="0">
              <a:spAutoFit/>
            </a:bodyPr>
            <a:lstStyle/>
            <a:p>
              <a:pPr>
                <a:lnSpc>
                  <a:spcPts val="4211"/>
                </a:lnSpc>
              </a:pPr>
              <a:r>
                <a:rPr lang="en-US" sz="3008">
                  <a:solidFill>
                    <a:srgbClr val="000000"/>
                  </a:solidFill>
                  <a:latin typeface="Canva Sans Bold"/>
                </a:rPr>
                <a:t>Item Name                         SKU</a:t>
              </a:r>
            </a:p>
            <a:p>
              <a:pPr>
                <a:lnSpc>
                  <a:spcPts val="3353"/>
                </a:lnSpc>
              </a:pPr>
              <a:r>
                <a:rPr lang="en-US" sz="2395">
                  <a:solidFill>
                    <a:srgbClr val="FF3131"/>
                  </a:solidFill>
                  <a:latin typeface="Canva Sans"/>
                </a:rPr>
                <a:t>Drinking Water Bottle               BE01</a:t>
              </a:r>
            </a:p>
            <a:p>
              <a:pPr>
                <a:lnSpc>
                  <a:spcPts val="3353"/>
                </a:lnSpc>
              </a:pPr>
              <a:r>
                <a:rPr lang="en-US" sz="2395">
                  <a:solidFill>
                    <a:srgbClr val="FF3131"/>
                  </a:solidFill>
                  <a:latin typeface="Canva Sans"/>
                </a:rPr>
                <a:t>Drinking Soda                              BE02</a:t>
              </a:r>
            </a:p>
            <a:p>
              <a:pPr>
                <a:lnSpc>
                  <a:spcPts val="3353"/>
                </a:lnSpc>
              </a:pPr>
              <a:r>
                <a:rPr lang="en-US" sz="2395">
                  <a:solidFill>
                    <a:srgbClr val="FF3131"/>
                  </a:solidFill>
                  <a:latin typeface="Canva Sans"/>
                </a:rPr>
                <a:t>Soft Drink (Glass Bottle)          BE03</a:t>
              </a:r>
            </a:p>
            <a:p>
              <a:pPr>
                <a:lnSpc>
                  <a:spcPts val="3353"/>
                </a:lnSpc>
              </a:pPr>
              <a:r>
                <a:rPr lang="en-US" sz="2395">
                  <a:solidFill>
                    <a:srgbClr val="FF3131"/>
                  </a:solidFill>
                  <a:latin typeface="Canva Sans"/>
                </a:rPr>
                <a:t>Soft Drink (1L plastic bottle)  BE04</a:t>
              </a:r>
            </a:p>
            <a:p>
              <a:pPr>
                <a:lnSpc>
                  <a:spcPts val="3353"/>
                </a:lnSpc>
              </a:pPr>
              <a:r>
                <a:rPr lang="en-US" sz="2395">
                  <a:solidFill>
                    <a:srgbClr val="FF3131"/>
                  </a:solidFill>
                  <a:latin typeface="Canva Sans"/>
                </a:rPr>
                <a:t>Soft (500 ml plastic bottle)    BE05</a:t>
              </a:r>
            </a:p>
            <a:p>
              <a:pPr>
                <a:lnSpc>
                  <a:spcPts val="3353"/>
                </a:lnSpc>
              </a:pPr>
              <a:r>
                <a:rPr lang="en-US" sz="2395">
                  <a:solidFill>
                    <a:srgbClr val="00BF63"/>
                  </a:solidFill>
                  <a:latin typeface="Canva Sans"/>
                </a:rPr>
                <a:t>Bourbon                                        BI01</a:t>
              </a:r>
            </a:p>
            <a:p>
              <a:pPr>
                <a:lnSpc>
                  <a:spcPts val="3353"/>
                </a:lnSpc>
              </a:pPr>
              <a:r>
                <a:rPr lang="en-US" sz="2395">
                  <a:solidFill>
                    <a:srgbClr val="00BF63"/>
                  </a:solidFill>
                  <a:latin typeface="Canva Sans"/>
                </a:rPr>
                <a:t>Marie Biscuits                              BI02</a:t>
              </a:r>
            </a:p>
            <a:p>
              <a:pPr>
                <a:lnSpc>
                  <a:spcPts val="3353"/>
                </a:lnSpc>
              </a:pPr>
              <a:r>
                <a:rPr lang="en-US" sz="2395">
                  <a:solidFill>
                    <a:srgbClr val="00BF63"/>
                  </a:solidFill>
                  <a:latin typeface="Canva Sans"/>
                </a:rPr>
                <a:t>Biskfarm Biscuits                        BI03</a:t>
              </a:r>
            </a:p>
            <a:p>
              <a:pPr>
                <a:lnSpc>
                  <a:spcPts val="3353"/>
                </a:lnSpc>
              </a:pPr>
              <a:r>
                <a:rPr lang="en-US" sz="2395">
                  <a:solidFill>
                    <a:srgbClr val="FF7017"/>
                  </a:solidFill>
                  <a:latin typeface="Canva Sans"/>
                </a:rPr>
                <a:t>Haldiram Bhujia                          SN01</a:t>
              </a:r>
            </a:p>
            <a:p>
              <a:pPr>
                <a:lnSpc>
                  <a:spcPts val="3353"/>
                </a:lnSpc>
              </a:pPr>
              <a:r>
                <a:rPr lang="en-US" sz="2395">
                  <a:solidFill>
                    <a:srgbClr val="FF7017"/>
                  </a:solidFill>
                  <a:latin typeface="Canva Sans"/>
                </a:rPr>
                <a:t>Bapuji Cake                                  SN02</a:t>
              </a:r>
            </a:p>
            <a:p>
              <a:pPr>
                <a:lnSpc>
                  <a:spcPts val="3353"/>
                </a:lnSpc>
              </a:pPr>
              <a:r>
                <a:rPr lang="en-US" sz="2395">
                  <a:solidFill>
                    <a:srgbClr val="FF7017"/>
                  </a:solidFill>
                  <a:latin typeface="Canva Sans"/>
                </a:rPr>
                <a:t>Chips                                              SN03</a:t>
              </a:r>
            </a:p>
            <a:p>
              <a:pPr>
                <a:lnSpc>
                  <a:spcPts val="3353"/>
                </a:lnSpc>
              </a:pPr>
              <a:r>
                <a:rPr lang="en-US" sz="2395">
                  <a:solidFill>
                    <a:srgbClr val="FF7017"/>
                  </a:solidFill>
                  <a:latin typeface="Canva Sans"/>
                </a:rPr>
                <a:t>Pack of bread                              SN04</a:t>
              </a:r>
            </a:p>
            <a:p>
              <a:pPr>
                <a:lnSpc>
                  <a:spcPts val="3353"/>
                </a:lnSpc>
              </a:pPr>
              <a:r>
                <a:rPr lang="en-US" sz="2395">
                  <a:solidFill>
                    <a:srgbClr val="004AAD"/>
                  </a:solidFill>
                  <a:latin typeface="Canva Sans"/>
                </a:rPr>
                <a:t>Body Lotion                                 COSM01</a:t>
              </a:r>
            </a:p>
            <a:p>
              <a:pPr>
                <a:lnSpc>
                  <a:spcPts val="3353"/>
                </a:lnSpc>
              </a:pPr>
              <a:r>
                <a:rPr lang="en-US" sz="2395">
                  <a:solidFill>
                    <a:srgbClr val="004AAD"/>
                  </a:solidFill>
                  <a:latin typeface="Canva Sans"/>
                </a:rPr>
                <a:t>Deodorants                                 COSM02</a:t>
              </a:r>
            </a:p>
          </p:txBody>
        </p:sp>
        <p:sp>
          <p:nvSpPr>
            <p:cNvPr name="AutoShape 21" id="21"/>
            <p:cNvSpPr/>
            <p:nvPr/>
          </p:nvSpPr>
          <p:spPr>
            <a:xfrm flipV="true">
              <a:off x="189" y="671384"/>
              <a:ext cx="7924597" cy="25400"/>
            </a:xfrm>
            <a:prstGeom prst="line">
              <a:avLst/>
            </a:prstGeom>
            <a:ln cap="flat" w="50800">
              <a:solidFill>
                <a:srgbClr val="000000"/>
              </a:solidFill>
              <a:prstDash val="solid"/>
              <a:headEnd type="none" len="sm" w="sm"/>
              <a:tailEnd type="none" len="sm" w="sm"/>
            </a:ln>
          </p:spPr>
        </p:sp>
        <p:sp>
          <p:nvSpPr>
            <p:cNvPr name="AutoShape 22" id="22"/>
            <p:cNvSpPr/>
            <p:nvPr/>
          </p:nvSpPr>
          <p:spPr>
            <a:xfrm flipV="true">
              <a:off x="107" y="25400"/>
              <a:ext cx="7924678" cy="12700"/>
            </a:xfrm>
            <a:prstGeom prst="line">
              <a:avLst/>
            </a:prstGeom>
            <a:ln cap="flat" w="50800">
              <a:solidFill>
                <a:srgbClr val="000000"/>
              </a:solidFill>
              <a:prstDash val="solid"/>
              <a:headEnd type="none" len="sm" w="sm"/>
              <a:tailEnd type="none" len="sm" w="sm"/>
            </a:ln>
          </p:spPr>
        </p:sp>
      </p:grpSp>
      <p:grpSp>
        <p:nvGrpSpPr>
          <p:cNvPr name="Group 23" id="23"/>
          <p:cNvGrpSpPr/>
          <p:nvPr/>
        </p:nvGrpSpPr>
        <p:grpSpPr>
          <a:xfrm rot="0">
            <a:off x="9506218" y="1687219"/>
            <a:ext cx="5943589" cy="6817949"/>
            <a:chOff x="0" y="0"/>
            <a:chExt cx="7924785" cy="9090598"/>
          </a:xfrm>
        </p:grpSpPr>
        <p:sp>
          <p:nvSpPr>
            <p:cNvPr name="TextBox 24" id="24"/>
            <p:cNvSpPr txBox="true"/>
            <p:nvPr/>
          </p:nvSpPr>
          <p:spPr>
            <a:xfrm rot="0">
              <a:off x="0" y="31749"/>
              <a:ext cx="7924785" cy="9058849"/>
            </a:xfrm>
            <a:prstGeom prst="rect">
              <a:avLst/>
            </a:prstGeom>
          </p:spPr>
          <p:txBody>
            <a:bodyPr anchor="t" rtlCol="false" tIns="0" lIns="0" bIns="0" rIns="0">
              <a:spAutoFit/>
            </a:bodyPr>
            <a:lstStyle/>
            <a:p>
              <a:pPr>
                <a:lnSpc>
                  <a:spcPts val="4211"/>
                </a:lnSpc>
              </a:pPr>
              <a:r>
                <a:rPr lang="en-US" sz="3008">
                  <a:solidFill>
                    <a:srgbClr val="000000"/>
                  </a:solidFill>
                  <a:latin typeface="Canva Sans Bold"/>
                </a:rPr>
                <a:t>Item Name                         SKU</a:t>
              </a:r>
            </a:p>
            <a:p>
              <a:pPr>
                <a:lnSpc>
                  <a:spcPts val="3353"/>
                </a:lnSpc>
              </a:pPr>
              <a:r>
                <a:rPr lang="en-US" sz="2395">
                  <a:solidFill>
                    <a:srgbClr val="004AAD"/>
                  </a:solidFill>
                  <a:latin typeface="Canva Sans"/>
                </a:rPr>
                <a:t>Face Cream                                  COSM03</a:t>
              </a:r>
            </a:p>
            <a:p>
              <a:pPr>
                <a:lnSpc>
                  <a:spcPts val="3353"/>
                </a:lnSpc>
              </a:pPr>
              <a:r>
                <a:rPr lang="en-US" sz="2395">
                  <a:solidFill>
                    <a:srgbClr val="545454"/>
                  </a:solidFill>
                  <a:latin typeface="Canva Sans"/>
                </a:rPr>
                <a:t>Black Ink Pen</a:t>
              </a:r>
              <a:r>
                <a:rPr lang="en-US" sz="2395">
                  <a:solidFill>
                    <a:srgbClr val="545454"/>
                  </a:solidFill>
                  <a:latin typeface="Canva Sans"/>
                </a:rPr>
                <a:t>                               WMP01</a:t>
              </a:r>
            </a:p>
            <a:p>
              <a:pPr>
                <a:lnSpc>
                  <a:spcPts val="3353"/>
                </a:lnSpc>
              </a:pPr>
              <a:r>
                <a:rPr lang="en-US" sz="2395">
                  <a:solidFill>
                    <a:srgbClr val="545454"/>
                  </a:solidFill>
                  <a:latin typeface="Canva Sans"/>
                </a:rPr>
                <a:t>Blue Ink Pen                                 WMP02</a:t>
              </a:r>
            </a:p>
            <a:p>
              <a:pPr>
                <a:lnSpc>
                  <a:spcPts val="3353"/>
                </a:lnSpc>
              </a:pPr>
              <a:r>
                <a:rPr lang="en-US" sz="2395">
                  <a:solidFill>
                    <a:srgbClr val="0097B2"/>
                  </a:solidFill>
                  <a:latin typeface="Canva Sans"/>
                </a:rPr>
                <a:t>Blank Long Notebook               WMNT01</a:t>
              </a:r>
            </a:p>
            <a:p>
              <a:pPr>
                <a:lnSpc>
                  <a:spcPts val="3353"/>
                </a:lnSpc>
              </a:pPr>
              <a:r>
                <a:rPr lang="en-US" sz="2395">
                  <a:solidFill>
                    <a:srgbClr val="0097B2"/>
                  </a:solidFill>
                  <a:latin typeface="Canva Sans"/>
                </a:rPr>
                <a:t>Lined Long Notebook               WMNT02</a:t>
              </a:r>
            </a:p>
            <a:p>
              <a:pPr>
                <a:lnSpc>
                  <a:spcPts val="3353"/>
                </a:lnSpc>
              </a:pPr>
              <a:r>
                <a:rPr lang="en-US" sz="2395">
                  <a:solidFill>
                    <a:srgbClr val="0097B2"/>
                  </a:solidFill>
                  <a:latin typeface="Canva Sans"/>
                </a:rPr>
                <a:t>Lined Short Notebook              WMNT03</a:t>
              </a:r>
            </a:p>
            <a:p>
              <a:pPr>
                <a:lnSpc>
                  <a:spcPts val="3353"/>
                </a:lnSpc>
              </a:pPr>
              <a:r>
                <a:rPr lang="en-US" sz="2395">
                  <a:solidFill>
                    <a:srgbClr val="0097B2"/>
                  </a:solidFill>
                  <a:latin typeface="Canva Sans"/>
                </a:rPr>
                <a:t>Blank Short Notebook              WMNT04</a:t>
              </a:r>
            </a:p>
            <a:p>
              <a:pPr>
                <a:lnSpc>
                  <a:spcPts val="3353"/>
                </a:lnSpc>
              </a:pPr>
              <a:r>
                <a:rPr lang="en-US" sz="2395">
                  <a:solidFill>
                    <a:srgbClr val="CB6CE6"/>
                  </a:solidFill>
                  <a:latin typeface="Canva Sans"/>
                </a:rPr>
                <a:t>Cover File                                      WMF01</a:t>
              </a:r>
            </a:p>
            <a:p>
              <a:pPr>
                <a:lnSpc>
                  <a:spcPts val="3353"/>
                </a:lnSpc>
              </a:pPr>
              <a:r>
                <a:rPr lang="en-US" sz="2395">
                  <a:solidFill>
                    <a:srgbClr val="CB6CE6"/>
                  </a:solidFill>
                  <a:latin typeface="Canva Sans"/>
                </a:rPr>
                <a:t>Envelope File                               WMF02</a:t>
              </a:r>
            </a:p>
            <a:p>
              <a:pPr>
                <a:lnSpc>
                  <a:spcPts val="3353"/>
                </a:lnSpc>
              </a:pPr>
              <a:r>
                <a:rPr lang="en-US" sz="2395">
                  <a:solidFill>
                    <a:srgbClr val="CB6CE6"/>
                  </a:solidFill>
                  <a:latin typeface="Canva Sans"/>
                </a:rPr>
                <a:t>Large Envelope File                   WMF03</a:t>
              </a:r>
            </a:p>
            <a:p>
              <a:pPr>
                <a:lnSpc>
                  <a:spcPts val="3353"/>
                </a:lnSpc>
              </a:pPr>
              <a:r>
                <a:rPr lang="en-US" sz="2395">
                  <a:solidFill>
                    <a:srgbClr val="FF5757"/>
                  </a:solidFill>
                  <a:latin typeface="Canva Sans"/>
                </a:rPr>
                <a:t>Lead Pencils (Set of 3)              WMPE01</a:t>
              </a:r>
            </a:p>
            <a:p>
              <a:pPr>
                <a:lnSpc>
                  <a:spcPts val="3353"/>
                </a:lnSpc>
              </a:pPr>
              <a:r>
                <a:rPr lang="en-US" sz="2395">
                  <a:solidFill>
                    <a:srgbClr val="FF5757"/>
                  </a:solidFill>
                  <a:latin typeface="Canva Sans"/>
                </a:rPr>
                <a:t>Graphite Pencils (Set of 6)      WMPE02</a:t>
              </a:r>
            </a:p>
            <a:p>
              <a:pPr>
                <a:lnSpc>
                  <a:spcPts val="3353"/>
                </a:lnSpc>
              </a:pPr>
              <a:r>
                <a:rPr lang="en-US" sz="2395">
                  <a:solidFill>
                    <a:srgbClr val="FF5757"/>
                  </a:solidFill>
                  <a:latin typeface="Canva Sans"/>
                </a:rPr>
                <a:t>Color Pencils Set                        WMPE03</a:t>
              </a:r>
            </a:p>
            <a:p>
              <a:pPr>
                <a:lnSpc>
                  <a:spcPts val="3353"/>
                </a:lnSpc>
              </a:pPr>
              <a:r>
                <a:rPr lang="en-US" sz="2395">
                  <a:solidFill>
                    <a:srgbClr val="5E17EB"/>
                  </a:solidFill>
                  <a:latin typeface="Canva Sans"/>
                </a:rPr>
                <a:t>Apsara Eraser Set                       WME01</a:t>
              </a:r>
            </a:p>
            <a:p>
              <a:pPr>
                <a:lnSpc>
                  <a:spcPts val="3353"/>
                </a:lnSpc>
              </a:pPr>
            </a:p>
          </p:txBody>
        </p:sp>
        <p:sp>
          <p:nvSpPr>
            <p:cNvPr name="AutoShape 25" id="25"/>
            <p:cNvSpPr/>
            <p:nvPr/>
          </p:nvSpPr>
          <p:spPr>
            <a:xfrm>
              <a:off x="0" y="713023"/>
              <a:ext cx="7924785" cy="0"/>
            </a:xfrm>
            <a:prstGeom prst="line">
              <a:avLst/>
            </a:prstGeom>
            <a:ln cap="flat" w="50800">
              <a:solidFill>
                <a:srgbClr val="000000"/>
              </a:solidFill>
              <a:prstDash val="solid"/>
              <a:headEnd type="none" len="sm" w="sm"/>
              <a:tailEnd type="none" len="sm" w="sm"/>
            </a:ln>
          </p:spPr>
        </p:sp>
        <p:sp>
          <p:nvSpPr>
            <p:cNvPr name="AutoShape 26" id="26"/>
            <p:cNvSpPr/>
            <p:nvPr/>
          </p:nvSpPr>
          <p:spPr>
            <a:xfrm>
              <a:off x="189" y="25400"/>
              <a:ext cx="7924597" cy="0"/>
            </a:xfrm>
            <a:prstGeom prst="line">
              <a:avLst/>
            </a:prstGeom>
            <a:ln cap="flat" w="50800">
              <a:solidFill>
                <a:srgbClr val="000000"/>
              </a:solidFill>
              <a:prstDash val="solid"/>
              <a:headEnd type="none" len="sm" w="sm"/>
              <a:tailEnd type="none" len="sm" w="sm"/>
            </a:ln>
          </p:spPr>
        </p:sp>
      </p:grpSp>
      <p:sp>
        <p:nvSpPr>
          <p:cNvPr name="TextBox 27" id="27"/>
          <p:cNvSpPr txBox="true"/>
          <p:nvPr/>
        </p:nvSpPr>
        <p:spPr>
          <a:xfrm rot="0">
            <a:off x="2996668" y="8476594"/>
            <a:ext cx="4629938" cy="568708"/>
          </a:xfrm>
          <a:prstGeom prst="rect">
            <a:avLst/>
          </a:prstGeom>
        </p:spPr>
        <p:txBody>
          <a:bodyPr anchor="t" rtlCol="false" tIns="0" lIns="0" bIns="0" rIns="0">
            <a:spAutoFit/>
          </a:bodyPr>
          <a:lstStyle/>
          <a:p>
            <a:pPr algn="just">
              <a:lnSpc>
                <a:spcPts val="4657"/>
              </a:lnSpc>
            </a:pPr>
            <a:r>
              <a:rPr lang="en-US" sz="3326">
                <a:solidFill>
                  <a:srgbClr val="582308"/>
                </a:solidFill>
                <a:latin typeface="Canva Sans"/>
              </a:rPr>
              <a:t>Table: </a:t>
            </a:r>
            <a:r>
              <a:rPr lang="en-US" sz="3326">
                <a:solidFill>
                  <a:srgbClr val="000000"/>
                </a:solidFill>
                <a:latin typeface="Canva Sans"/>
              </a:rPr>
              <a:t>SKU Dictionary</a:t>
            </a:r>
          </a:p>
        </p:txBody>
      </p:sp>
      <p:sp>
        <p:nvSpPr>
          <p:cNvPr name="TextBox 28" id="28"/>
          <p:cNvSpPr txBox="true"/>
          <p:nvPr/>
        </p:nvSpPr>
        <p:spPr>
          <a:xfrm rot="0">
            <a:off x="10163044" y="8476594"/>
            <a:ext cx="4629938" cy="568708"/>
          </a:xfrm>
          <a:prstGeom prst="rect">
            <a:avLst/>
          </a:prstGeom>
        </p:spPr>
        <p:txBody>
          <a:bodyPr anchor="t" rtlCol="false" tIns="0" lIns="0" bIns="0" rIns="0">
            <a:spAutoFit/>
          </a:bodyPr>
          <a:lstStyle/>
          <a:p>
            <a:pPr algn="just">
              <a:lnSpc>
                <a:spcPts val="4657"/>
              </a:lnSpc>
            </a:pPr>
            <a:r>
              <a:rPr lang="en-US" sz="3326">
                <a:solidFill>
                  <a:srgbClr val="582308"/>
                </a:solidFill>
                <a:latin typeface="Canva Sans"/>
              </a:rPr>
              <a:t>Table: </a:t>
            </a:r>
            <a:r>
              <a:rPr lang="en-US" sz="3326">
                <a:solidFill>
                  <a:srgbClr val="000000"/>
                </a:solidFill>
                <a:latin typeface="Canva Sans"/>
              </a:rPr>
              <a:t>SKU Dictionary</a:t>
            </a:r>
          </a:p>
        </p:txBody>
      </p:sp>
      <p:sp>
        <p:nvSpPr>
          <p:cNvPr name="AutoShape 29" id="29"/>
          <p:cNvSpPr/>
          <p:nvPr/>
        </p:nvSpPr>
        <p:spPr>
          <a:xfrm>
            <a:off x="2339812" y="8289056"/>
            <a:ext cx="5943650" cy="0"/>
          </a:xfrm>
          <a:prstGeom prst="line">
            <a:avLst/>
          </a:prstGeom>
          <a:ln cap="flat" w="9525">
            <a:solidFill>
              <a:srgbClr val="090909"/>
            </a:solidFill>
            <a:prstDash val="solid"/>
            <a:headEnd type="none" len="sm" w="sm"/>
            <a:tailEnd type="none" len="sm" w="sm"/>
          </a:ln>
        </p:spPr>
      </p:sp>
      <p:sp>
        <p:nvSpPr>
          <p:cNvPr name="AutoShape 30" id="30"/>
          <p:cNvSpPr/>
          <p:nvPr/>
        </p:nvSpPr>
        <p:spPr>
          <a:xfrm>
            <a:off x="9506157" y="8279531"/>
            <a:ext cx="5943650" cy="0"/>
          </a:xfrm>
          <a:prstGeom prst="line">
            <a:avLst/>
          </a:prstGeom>
          <a:ln cap="flat" w="9525">
            <a:solidFill>
              <a:srgbClr val="090909"/>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14515" y="2527786"/>
            <a:ext cx="8033419" cy="4974365"/>
          </a:xfrm>
          <a:custGeom>
            <a:avLst/>
            <a:gdLst/>
            <a:ahLst/>
            <a:cxnLst/>
            <a:rect r="r" b="b" t="t" l="l"/>
            <a:pathLst>
              <a:path h="4974365" w="8033419">
                <a:moveTo>
                  <a:pt x="0" y="0"/>
                </a:moveTo>
                <a:lnTo>
                  <a:pt x="8033419" y="0"/>
                </a:lnTo>
                <a:lnTo>
                  <a:pt x="8033419" y="4974365"/>
                </a:lnTo>
                <a:lnTo>
                  <a:pt x="0" y="4974365"/>
                </a:lnTo>
                <a:lnTo>
                  <a:pt x="0" y="0"/>
                </a:lnTo>
                <a:close/>
              </a:path>
            </a:pathLst>
          </a:custGeom>
          <a:blipFill>
            <a:blip r:embed="rId2"/>
            <a:stretch>
              <a:fillRect l="0" t="0" r="0" b="0"/>
            </a:stretch>
          </a:blipFill>
        </p:spPr>
      </p:sp>
      <p:sp>
        <p:nvSpPr>
          <p:cNvPr name="Freeform 15" id="15"/>
          <p:cNvSpPr/>
          <p:nvPr/>
        </p:nvSpPr>
        <p:spPr>
          <a:xfrm flipH="false" flipV="false" rot="0">
            <a:off x="9329638" y="2527786"/>
            <a:ext cx="8043847" cy="4974365"/>
          </a:xfrm>
          <a:custGeom>
            <a:avLst/>
            <a:gdLst/>
            <a:ahLst/>
            <a:cxnLst/>
            <a:rect r="r" b="b" t="t" l="l"/>
            <a:pathLst>
              <a:path h="4974365" w="8043847">
                <a:moveTo>
                  <a:pt x="0" y="0"/>
                </a:moveTo>
                <a:lnTo>
                  <a:pt x="8043847" y="0"/>
                </a:lnTo>
                <a:lnTo>
                  <a:pt x="8043847" y="4974365"/>
                </a:lnTo>
                <a:lnTo>
                  <a:pt x="0" y="4974365"/>
                </a:lnTo>
                <a:lnTo>
                  <a:pt x="0" y="0"/>
                </a:lnTo>
                <a:close/>
              </a:path>
            </a:pathLst>
          </a:custGeom>
          <a:blipFill>
            <a:blip r:embed="rId3"/>
            <a:stretch>
              <a:fillRect l="0" t="0" r="0" b="0"/>
            </a:stretch>
          </a:blipFill>
        </p:spPr>
      </p:sp>
      <p:sp>
        <p:nvSpPr>
          <p:cNvPr name="TextBox 16" id="16"/>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7" id="17"/>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8" id="18"/>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9" id="19"/>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6/10</a:t>
            </a:r>
          </a:p>
        </p:txBody>
      </p:sp>
      <p:sp>
        <p:nvSpPr>
          <p:cNvPr name="TextBox 20" id="20"/>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General Analysis on Sales Data/Revenue Data</a:t>
            </a:r>
          </a:p>
        </p:txBody>
      </p:sp>
      <p:sp>
        <p:nvSpPr>
          <p:cNvPr name="TextBox 21" id="21"/>
          <p:cNvSpPr txBox="true"/>
          <p:nvPr/>
        </p:nvSpPr>
        <p:spPr>
          <a:xfrm rot="0">
            <a:off x="10806163" y="7772054"/>
            <a:ext cx="5090796" cy="400231"/>
          </a:xfrm>
          <a:prstGeom prst="rect">
            <a:avLst/>
          </a:prstGeom>
        </p:spPr>
        <p:txBody>
          <a:bodyPr anchor="t" rtlCol="false" tIns="0" lIns="0" bIns="0" rIns="0">
            <a:spAutoFit/>
          </a:bodyPr>
          <a:lstStyle/>
          <a:p>
            <a:pPr algn="just">
              <a:lnSpc>
                <a:spcPts val="3271"/>
              </a:lnSpc>
            </a:pPr>
            <a:r>
              <a:rPr lang="en-US" sz="2336">
                <a:solidFill>
                  <a:srgbClr val="582308"/>
                </a:solidFill>
                <a:latin typeface="Canva Sans"/>
              </a:rPr>
              <a:t>Figure:</a:t>
            </a:r>
            <a:r>
              <a:rPr lang="en-US" sz="2336">
                <a:solidFill>
                  <a:srgbClr val="000000"/>
                </a:solidFill>
                <a:latin typeface="Canva Sans"/>
              </a:rPr>
              <a:t> The revenue Pareto diagram</a:t>
            </a:r>
          </a:p>
        </p:txBody>
      </p:sp>
      <p:sp>
        <p:nvSpPr>
          <p:cNvPr name="TextBox 22" id="22"/>
          <p:cNvSpPr txBox="true"/>
          <p:nvPr/>
        </p:nvSpPr>
        <p:spPr>
          <a:xfrm rot="0">
            <a:off x="2601147" y="7772054"/>
            <a:ext cx="4660156" cy="400231"/>
          </a:xfrm>
          <a:prstGeom prst="rect">
            <a:avLst/>
          </a:prstGeom>
        </p:spPr>
        <p:txBody>
          <a:bodyPr anchor="t" rtlCol="false" tIns="0" lIns="0" bIns="0" rIns="0">
            <a:spAutoFit/>
          </a:bodyPr>
          <a:lstStyle/>
          <a:p>
            <a:pPr algn="just">
              <a:lnSpc>
                <a:spcPts val="3271"/>
              </a:lnSpc>
            </a:pPr>
            <a:r>
              <a:rPr lang="en-US" sz="2336">
                <a:solidFill>
                  <a:srgbClr val="582308"/>
                </a:solidFill>
                <a:latin typeface="Canva Sans"/>
              </a:rPr>
              <a:t>Figure:</a:t>
            </a:r>
            <a:r>
              <a:rPr lang="en-US" sz="2336">
                <a:solidFill>
                  <a:srgbClr val="000000"/>
                </a:solidFill>
                <a:latin typeface="Canva Sans"/>
              </a:rPr>
              <a:t> The Sales Pareto diagram</a:t>
            </a:r>
          </a:p>
        </p:txBody>
      </p:sp>
      <p:sp>
        <p:nvSpPr>
          <p:cNvPr name="TextBox 23" id="23"/>
          <p:cNvSpPr txBox="true"/>
          <p:nvPr/>
        </p:nvSpPr>
        <p:spPr>
          <a:xfrm rot="0">
            <a:off x="3894994" y="8656998"/>
            <a:ext cx="10498013" cy="397848"/>
          </a:xfrm>
          <a:prstGeom prst="rect">
            <a:avLst/>
          </a:prstGeom>
        </p:spPr>
        <p:txBody>
          <a:bodyPr anchor="t" rtlCol="false" tIns="0" lIns="0" bIns="0" rIns="0">
            <a:spAutoFit/>
          </a:bodyPr>
          <a:lstStyle/>
          <a:p>
            <a:pPr algn="ctr">
              <a:lnSpc>
                <a:spcPts val="3271"/>
              </a:lnSpc>
            </a:pPr>
            <a:r>
              <a:rPr lang="en-US" sz="2336">
                <a:solidFill>
                  <a:srgbClr val="000000"/>
                </a:solidFill>
                <a:latin typeface="Canva Sans"/>
              </a:rPr>
              <a:t>The pareto principle is not obeyed for both the figures</a:t>
            </a:r>
          </a:p>
        </p:txBody>
      </p:sp>
      <p:sp>
        <p:nvSpPr>
          <p:cNvPr name="TextBox 24" id="24"/>
          <p:cNvSpPr txBox="true"/>
          <p:nvPr/>
        </p:nvSpPr>
        <p:spPr>
          <a:xfrm rot="0">
            <a:off x="900834" y="1540177"/>
            <a:ext cx="7473907" cy="611170"/>
          </a:xfrm>
          <a:prstGeom prst="rect">
            <a:avLst/>
          </a:prstGeom>
        </p:spPr>
        <p:txBody>
          <a:bodyPr anchor="t" rtlCol="false" tIns="0" lIns="0" bIns="0" rIns="0">
            <a:spAutoFit/>
          </a:bodyPr>
          <a:lstStyle/>
          <a:p>
            <a:pPr>
              <a:lnSpc>
                <a:spcPts val="5075"/>
              </a:lnSpc>
            </a:pPr>
            <a:r>
              <a:rPr lang="en-US" sz="3625">
                <a:solidFill>
                  <a:srgbClr val="000000"/>
                </a:solidFill>
                <a:latin typeface="Canva Sans Bold"/>
              </a:rPr>
              <a:t>Sales Pareto and Revenue Pareto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445308" y="5480369"/>
            <a:ext cx="6096575" cy="3777931"/>
          </a:xfrm>
          <a:custGeom>
            <a:avLst/>
            <a:gdLst/>
            <a:ahLst/>
            <a:cxnLst/>
            <a:rect r="r" b="b" t="t" l="l"/>
            <a:pathLst>
              <a:path h="3777931" w="6096575">
                <a:moveTo>
                  <a:pt x="0" y="0"/>
                </a:moveTo>
                <a:lnTo>
                  <a:pt x="6096575" y="0"/>
                </a:lnTo>
                <a:lnTo>
                  <a:pt x="6096575" y="3777931"/>
                </a:lnTo>
                <a:lnTo>
                  <a:pt x="0" y="3777931"/>
                </a:lnTo>
                <a:lnTo>
                  <a:pt x="0" y="0"/>
                </a:lnTo>
                <a:close/>
              </a:path>
            </a:pathLst>
          </a:custGeom>
          <a:blipFill>
            <a:blip r:embed="rId2"/>
            <a:stretch>
              <a:fillRect l="0" t="0" r="0" b="0"/>
            </a:stretch>
          </a:blipFill>
        </p:spPr>
      </p:sp>
      <p:sp>
        <p:nvSpPr>
          <p:cNvPr name="Freeform 15" id="15"/>
          <p:cNvSpPr/>
          <p:nvPr/>
        </p:nvSpPr>
        <p:spPr>
          <a:xfrm flipH="false" flipV="false" rot="0">
            <a:off x="1445308" y="1467969"/>
            <a:ext cx="6096575" cy="3774843"/>
          </a:xfrm>
          <a:custGeom>
            <a:avLst/>
            <a:gdLst/>
            <a:ahLst/>
            <a:cxnLst/>
            <a:rect r="r" b="b" t="t" l="l"/>
            <a:pathLst>
              <a:path h="3774843" w="6096575">
                <a:moveTo>
                  <a:pt x="0" y="0"/>
                </a:moveTo>
                <a:lnTo>
                  <a:pt x="6096575" y="0"/>
                </a:lnTo>
                <a:lnTo>
                  <a:pt x="6096575" y="3774843"/>
                </a:lnTo>
                <a:lnTo>
                  <a:pt x="0" y="3774843"/>
                </a:lnTo>
                <a:lnTo>
                  <a:pt x="0" y="0"/>
                </a:lnTo>
                <a:close/>
              </a:path>
            </a:pathLst>
          </a:custGeom>
          <a:blipFill>
            <a:blip r:embed="rId3"/>
            <a:stretch>
              <a:fillRect l="0" t="0" r="0" b="0"/>
            </a:stretch>
          </a:blipFill>
        </p:spPr>
      </p:sp>
      <p:sp>
        <p:nvSpPr>
          <p:cNvPr name="TextBox 16" id="16"/>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7" id="17"/>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8" id="18"/>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9" id="19"/>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7/10</a:t>
            </a:r>
          </a:p>
        </p:txBody>
      </p:sp>
      <p:sp>
        <p:nvSpPr>
          <p:cNvPr name="TextBox 20" id="20"/>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General Analysis on Sales Data/Revenue Data</a:t>
            </a:r>
          </a:p>
        </p:txBody>
      </p:sp>
      <p:sp>
        <p:nvSpPr>
          <p:cNvPr name="TextBox 21" id="21"/>
          <p:cNvSpPr txBox="true"/>
          <p:nvPr/>
        </p:nvSpPr>
        <p:spPr>
          <a:xfrm rot="0">
            <a:off x="8812905" y="3080626"/>
            <a:ext cx="7311275" cy="5312748"/>
          </a:xfrm>
          <a:prstGeom prst="rect">
            <a:avLst/>
          </a:prstGeom>
        </p:spPr>
        <p:txBody>
          <a:bodyPr anchor="t" rtlCol="false" tIns="0" lIns="0" bIns="0" rIns="0">
            <a:spAutoFit/>
          </a:bodyPr>
          <a:lstStyle/>
          <a:p>
            <a:pPr algn="just" marL="504495" indent="-252248" lvl="1">
              <a:lnSpc>
                <a:spcPts val="3271"/>
              </a:lnSpc>
              <a:buFont typeface="Arial"/>
              <a:buChar char="•"/>
            </a:pPr>
            <a:r>
              <a:rPr lang="en-US" sz="2336">
                <a:solidFill>
                  <a:srgbClr val="000000"/>
                </a:solidFill>
                <a:latin typeface="Canva Sans"/>
              </a:rPr>
              <a:t>The trend in daily sales and daily revenue proves to be significantly stable over the period of four months.</a:t>
            </a:r>
          </a:p>
          <a:p>
            <a:pPr algn="just" marL="504495" indent="-252248" lvl="1">
              <a:lnSpc>
                <a:spcPts val="3271"/>
              </a:lnSpc>
              <a:buFont typeface="Arial"/>
              <a:buChar char="•"/>
            </a:pPr>
            <a:r>
              <a:rPr lang="en-US" sz="2336">
                <a:solidFill>
                  <a:srgbClr val="000000"/>
                </a:solidFill>
                <a:latin typeface="Canva Sans"/>
              </a:rPr>
              <a:t>Exceptions</a:t>
            </a:r>
          </a:p>
          <a:p>
            <a:pPr algn="just" marL="1008990" indent="-336330" lvl="2">
              <a:lnSpc>
                <a:spcPts val="3271"/>
              </a:lnSpc>
              <a:buFont typeface="Arial"/>
              <a:buChar char="⚬"/>
            </a:pPr>
            <a:r>
              <a:rPr lang="en-US" sz="2336">
                <a:solidFill>
                  <a:srgbClr val="000000"/>
                </a:solidFill>
                <a:latin typeface="Canva Sans"/>
              </a:rPr>
              <a:t>We see a significant drop in the sales figure during the period 1st Oct 2022 to 5th Oct 2022. This is possibly due to the festival Durga-Puja, when the store remains open only for the first half of the day.</a:t>
            </a:r>
          </a:p>
          <a:p>
            <a:pPr algn="just" marL="1008990" indent="-336330" lvl="2">
              <a:lnSpc>
                <a:spcPts val="3271"/>
              </a:lnSpc>
              <a:buFont typeface="Arial"/>
              <a:buChar char="⚬"/>
            </a:pPr>
            <a:r>
              <a:rPr lang="en-US" sz="2336">
                <a:solidFill>
                  <a:srgbClr val="000000"/>
                </a:solidFill>
                <a:latin typeface="Canva Sans"/>
              </a:rPr>
              <a:t>We see a reduction in the sales figure on 24th October 2022. Sales is zero on 24th October 2022 because the store was closed for the occasion of Kali-Puja.</a:t>
            </a:r>
          </a:p>
        </p:txBody>
      </p:sp>
      <p:sp>
        <p:nvSpPr>
          <p:cNvPr name="TextBox 22" id="22"/>
          <p:cNvSpPr txBox="true"/>
          <p:nvPr/>
        </p:nvSpPr>
        <p:spPr>
          <a:xfrm rot="0">
            <a:off x="9008310" y="2011468"/>
            <a:ext cx="7311275" cy="612764"/>
          </a:xfrm>
          <a:prstGeom prst="rect">
            <a:avLst/>
          </a:prstGeom>
        </p:spPr>
        <p:txBody>
          <a:bodyPr anchor="t" rtlCol="false" tIns="0" lIns="0" bIns="0" rIns="0">
            <a:spAutoFit/>
          </a:bodyPr>
          <a:lstStyle/>
          <a:p>
            <a:pPr algn="ctr">
              <a:lnSpc>
                <a:spcPts val="5075"/>
              </a:lnSpc>
            </a:pPr>
            <a:r>
              <a:rPr lang="en-US" sz="3625">
                <a:solidFill>
                  <a:srgbClr val="000000"/>
                </a:solidFill>
                <a:latin typeface="Canva Sans Bold"/>
              </a:rPr>
              <a:t>Daily Sales and revenue trend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454169" y="9807295"/>
            <a:ext cx="1073399" cy="876849"/>
            <a:chOff x="0" y="0"/>
            <a:chExt cx="282706" cy="230940"/>
          </a:xfrm>
        </p:grpSpPr>
        <p:sp>
          <p:nvSpPr>
            <p:cNvPr name="Freeform 9" id="9"/>
            <p:cNvSpPr/>
            <p:nvPr/>
          </p:nvSpPr>
          <p:spPr>
            <a:xfrm flipH="false" flipV="false" rot="0">
              <a:off x="0" y="0"/>
              <a:ext cx="282706" cy="230940"/>
            </a:xfrm>
            <a:custGeom>
              <a:avLst/>
              <a:gdLst/>
              <a:ahLst/>
              <a:cxnLst/>
              <a:rect r="r" b="b" t="t" l="l"/>
              <a:pathLst>
                <a:path h="230940" w="282706">
                  <a:moveTo>
                    <a:pt x="0" y="0"/>
                  </a:moveTo>
                  <a:lnTo>
                    <a:pt x="282706" y="0"/>
                  </a:lnTo>
                  <a:lnTo>
                    <a:pt x="28270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910936" y="2158389"/>
            <a:ext cx="4772360" cy="4721231"/>
          </a:xfrm>
          <a:custGeom>
            <a:avLst/>
            <a:gdLst/>
            <a:ahLst/>
            <a:cxnLst/>
            <a:rect r="r" b="b" t="t" l="l"/>
            <a:pathLst>
              <a:path h="4721231" w="4772360">
                <a:moveTo>
                  <a:pt x="0" y="0"/>
                </a:moveTo>
                <a:lnTo>
                  <a:pt x="4772360" y="0"/>
                </a:lnTo>
                <a:lnTo>
                  <a:pt x="4772360" y="4721231"/>
                </a:lnTo>
                <a:lnTo>
                  <a:pt x="0" y="4721231"/>
                </a:lnTo>
                <a:lnTo>
                  <a:pt x="0" y="0"/>
                </a:lnTo>
                <a:close/>
              </a:path>
            </a:pathLst>
          </a:custGeom>
          <a:blipFill>
            <a:blip r:embed="rId2"/>
            <a:stretch>
              <a:fillRect l="-18594" t="-12968" r="-100912" b="-5763"/>
            </a:stretch>
          </a:blipFill>
        </p:spPr>
      </p:sp>
      <p:grpSp>
        <p:nvGrpSpPr>
          <p:cNvPr name="Group 15" id="15"/>
          <p:cNvGrpSpPr/>
          <p:nvPr/>
        </p:nvGrpSpPr>
        <p:grpSpPr>
          <a:xfrm rot="0">
            <a:off x="1910936" y="7357648"/>
            <a:ext cx="5699873" cy="1700239"/>
            <a:chOff x="0" y="0"/>
            <a:chExt cx="7599830" cy="2266985"/>
          </a:xfrm>
        </p:grpSpPr>
        <p:sp>
          <p:nvSpPr>
            <p:cNvPr name="Freeform 16" id="16"/>
            <p:cNvSpPr/>
            <p:nvPr/>
          </p:nvSpPr>
          <p:spPr>
            <a:xfrm flipH="false" flipV="false" rot="0">
              <a:off x="0" y="0"/>
              <a:ext cx="3799915" cy="2266985"/>
            </a:xfrm>
            <a:custGeom>
              <a:avLst/>
              <a:gdLst/>
              <a:ahLst/>
              <a:cxnLst/>
              <a:rect r="r" b="b" t="t" l="l"/>
              <a:pathLst>
                <a:path h="2266985" w="3799915">
                  <a:moveTo>
                    <a:pt x="0" y="0"/>
                  </a:moveTo>
                  <a:lnTo>
                    <a:pt x="3799915" y="0"/>
                  </a:lnTo>
                  <a:lnTo>
                    <a:pt x="3799915" y="2266985"/>
                  </a:lnTo>
                  <a:lnTo>
                    <a:pt x="0" y="2266985"/>
                  </a:lnTo>
                  <a:lnTo>
                    <a:pt x="0" y="0"/>
                  </a:lnTo>
                  <a:close/>
                </a:path>
              </a:pathLst>
            </a:custGeom>
            <a:blipFill>
              <a:blip r:embed="rId2"/>
              <a:stretch>
                <a:fillRect l="-161648" t="-26258" r="-6379" b="-114147"/>
              </a:stretch>
            </a:blipFill>
          </p:spPr>
        </p:sp>
        <p:sp>
          <p:nvSpPr>
            <p:cNvPr name="Freeform 17" id="17"/>
            <p:cNvSpPr/>
            <p:nvPr/>
          </p:nvSpPr>
          <p:spPr>
            <a:xfrm flipH="false" flipV="false" rot="0">
              <a:off x="3799915" y="0"/>
              <a:ext cx="3799915" cy="1887142"/>
            </a:xfrm>
            <a:custGeom>
              <a:avLst/>
              <a:gdLst/>
              <a:ahLst/>
              <a:cxnLst/>
              <a:rect r="r" b="b" t="t" l="l"/>
              <a:pathLst>
                <a:path h="1887142" w="3799915">
                  <a:moveTo>
                    <a:pt x="0" y="0"/>
                  </a:moveTo>
                  <a:lnTo>
                    <a:pt x="3799915" y="0"/>
                  </a:lnTo>
                  <a:lnTo>
                    <a:pt x="3799915" y="1887142"/>
                  </a:lnTo>
                  <a:lnTo>
                    <a:pt x="0" y="1887142"/>
                  </a:lnTo>
                  <a:lnTo>
                    <a:pt x="0" y="0"/>
                  </a:lnTo>
                  <a:close/>
                </a:path>
              </a:pathLst>
            </a:custGeom>
            <a:blipFill>
              <a:blip r:embed="rId2"/>
              <a:stretch>
                <a:fillRect l="-161648" t="-153408" r="-6379" b="-35387"/>
              </a:stretch>
            </a:blipFill>
          </p:spPr>
        </p:sp>
      </p:grpSp>
      <p:sp>
        <p:nvSpPr>
          <p:cNvPr name="Freeform 18" id="18"/>
          <p:cNvSpPr/>
          <p:nvPr/>
        </p:nvSpPr>
        <p:spPr>
          <a:xfrm flipH="false" flipV="false" rot="-1258278">
            <a:off x="7317861" y="3220868"/>
            <a:ext cx="1375362" cy="621261"/>
          </a:xfrm>
          <a:custGeom>
            <a:avLst/>
            <a:gdLst/>
            <a:ahLst/>
            <a:cxnLst/>
            <a:rect r="r" b="b" t="t" l="l"/>
            <a:pathLst>
              <a:path h="621261" w="1375362">
                <a:moveTo>
                  <a:pt x="0" y="0"/>
                </a:moveTo>
                <a:lnTo>
                  <a:pt x="1375362" y="0"/>
                </a:lnTo>
                <a:lnTo>
                  <a:pt x="1375362" y="621260"/>
                </a:lnTo>
                <a:lnTo>
                  <a:pt x="0" y="6212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20" id="20"/>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21" id="21"/>
          <p:cNvSpPr txBox="true"/>
          <p:nvPr/>
        </p:nvSpPr>
        <p:spPr>
          <a:xfrm rot="0">
            <a:off x="1334268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22" id="22"/>
          <p:cNvSpPr txBox="true"/>
          <p:nvPr/>
        </p:nvSpPr>
        <p:spPr>
          <a:xfrm rot="0">
            <a:off x="17523794" y="9880645"/>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8/10</a:t>
            </a:r>
          </a:p>
        </p:txBody>
      </p:sp>
      <p:sp>
        <p:nvSpPr>
          <p:cNvPr name="TextBox 23" id="23"/>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Revenue generated per business unit</a:t>
            </a:r>
          </a:p>
        </p:txBody>
      </p:sp>
      <p:sp>
        <p:nvSpPr>
          <p:cNvPr name="TextBox 24" id="24"/>
          <p:cNvSpPr txBox="true"/>
          <p:nvPr/>
        </p:nvSpPr>
        <p:spPr>
          <a:xfrm rot="0">
            <a:off x="9327787" y="2552398"/>
            <a:ext cx="7607663" cy="838224"/>
          </a:xfrm>
          <a:prstGeom prst="rect">
            <a:avLst/>
          </a:prstGeom>
        </p:spPr>
        <p:txBody>
          <a:bodyPr anchor="t" rtlCol="false" tIns="0" lIns="0" bIns="0" rIns="0">
            <a:spAutoFit/>
          </a:bodyPr>
          <a:lstStyle/>
          <a:p>
            <a:pPr algn="just">
              <a:lnSpc>
                <a:spcPts val="3404"/>
              </a:lnSpc>
            </a:pPr>
            <a:r>
              <a:rPr lang="en-US" sz="2431">
                <a:solidFill>
                  <a:srgbClr val="953F10"/>
                </a:solidFill>
                <a:latin typeface="Canva Sans"/>
              </a:rPr>
              <a:t>Figure:</a:t>
            </a:r>
            <a:r>
              <a:rPr lang="en-US" sz="2431">
                <a:solidFill>
                  <a:srgbClr val="000000"/>
                </a:solidFill>
                <a:latin typeface="Canva Sans"/>
              </a:rPr>
              <a:t> Proportion of revenue generated per business unit</a:t>
            </a:r>
          </a:p>
        </p:txBody>
      </p:sp>
      <p:sp>
        <p:nvSpPr>
          <p:cNvPr name="TextBox 25" id="25"/>
          <p:cNvSpPr txBox="true"/>
          <p:nvPr/>
        </p:nvSpPr>
        <p:spPr>
          <a:xfrm rot="0">
            <a:off x="9051708" y="4321375"/>
            <a:ext cx="7658935" cy="3659287"/>
          </a:xfrm>
          <a:prstGeom prst="rect">
            <a:avLst/>
          </a:prstGeom>
        </p:spPr>
        <p:txBody>
          <a:bodyPr anchor="t" rtlCol="false" tIns="0" lIns="0" bIns="0" rIns="0">
            <a:spAutoFit/>
          </a:bodyPr>
          <a:lstStyle/>
          <a:p>
            <a:pPr algn="just">
              <a:lnSpc>
                <a:spcPts val="3672"/>
              </a:lnSpc>
            </a:pPr>
            <a:r>
              <a:rPr lang="en-US" sz="2623">
                <a:solidFill>
                  <a:srgbClr val="000000"/>
                </a:solidFill>
                <a:latin typeface="Canva Sans"/>
              </a:rPr>
              <a:t>This is the revenue contribution of each category at this store.</a:t>
            </a:r>
          </a:p>
          <a:p>
            <a:pPr algn="just">
              <a:lnSpc>
                <a:spcPts val="3672"/>
              </a:lnSpc>
            </a:pPr>
            <a:r>
              <a:rPr lang="en-US" sz="2623">
                <a:solidFill>
                  <a:srgbClr val="000000"/>
                </a:solidFill>
                <a:latin typeface="Canva Sans"/>
              </a:rPr>
              <a:t>We find that Beverages is the highest in terms of revenue generation at this store followed by Cosmetic, Pencil, Snack, Notebook, File, Biscuits, Pen and Eraser.</a:t>
            </a:r>
          </a:p>
          <a:p>
            <a:pPr algn="just">
              <a:lnSpc>
                <a:spcPts val="3672"/>
              </a:lnSpc>
            </a:pPr>
            <a:r>
              <a:rPr lang="en-US" sz="2623">
                <a:solidFill>
                  <a:srgbClr val="000000"/>
                </a:solidFill>
                <a:latin typeface="Canva Sans"/>
              </a:rPr>
              <a:t>Eraser contributes the least in the net revenue of this store.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597350" y="9807295"/>
            <a:ext cx="930218" cy="876849"/>
            <a:chOff x="0" y="0"/>
            <a:chExt cx="244996" cy="230940"/>
          </a:xfrm>
        </p:grpSpPr>
        <p:sp>
          <p:nvSpPr>
            <p:cNvPr name="Freeform 9" id="9"/>
            <p:cNvSpPr/>
            <p:nvPr/>
          </p:nvSpPr>
          <p:spPr>
            <a:xfrm flipH="false" flipV="false" rot="0">
              <a:off x="0" y="0"/>
              <a:ext cx="244996" cy="230940"/>
            </a:xfrm>
            <a:custGeom>
              <a:avLst/>
              <a:gdLst/>
              <a:ahLst/>
              <a:cxnLst/>
              <a:rect r="r" b="b" t="t" l="l"/>
              <a:pathLst>
                <a:path h="230940" w="244996">
                  <a:moveTo>
                    <a:pt x="0" y="0"/>
                  </a:moveTo>
                  <a:lnTo>
                    <a:pt x="244996" y="0"/>
                  </a:lnTo>
                  <a:lnTo>
                    <a:pt x="24499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423502" y="1591183"/>
            <a:ext cx="6501298" cy="2280205"/>
          </a:xfrm>
          <a:custGeom>
            <a:avLst/>
            <a:gdLst/>
            <a:ahLst/>
            <a:cxnLst/>
            <a:rect r="r" b="b" t="t" l="l"/>
            <a:pathLst>
              <a:path h="2280205" w="6501298">
                <a:moveTo>
                  <a:pt x="0" y="0"/>
                </a:moveTo>
                <a:lnTo>
                  <a:pt x="6501298" y="0"/>
                </a:lnTo>
                <a:lnTo>
                  <a:pt x="6501298" y="2280205"/>
                </a:lnTo>
                <a:lnTo>
                  <a:pt x="0" y="2280205"/>
                </a:lnTo>
                <a:lnTo>
                  <a:pt x="0" y="0"/>
                </a:lnTo>
                <a:close/>
              </a:path>
            </a:pathLst>
          </a:custGeom>
          <a:blipFill>
            <a:blip r:embed="rId2"/>
            <a:stretch>
              <a:fillRect l="0" t="0" r="0" b="0"/>
            </a:stretch>
          </a:blipFill>
        </p:spPr>
      </p:sp>
      <p:sp>
        <p:nvSpPr>
          <p:cNvPr name="Freeform 15" id="15"/>
          <p:cNvSpPr/>
          <p:nvPr/>
        </p:nvSpPr>
        <p:spPr>
          <a:xfrm flipH="false" flipV="false" rot="0">
            <a:off x="10354793" y="4259328"/>
            <a:ext cx="6904507" cy="2323129"/>
          </a:xfrm>
          <a:custGeom>
            <a:avLst/>
            <a:gdLst/>
            <a:ahLst/>
            <a:cxnLst/>
            <a:rect r="r" b="b" t="t" l="l"/>
            <a:pathLst>
              <a:path h="2323129" w="6904507">
                <a:moveTo>
                  <a:pt x="0" y="0"/>
                </a:moveTo>
                <a:lnTo>
                  <a:pt x="6904507" y="0"/>
                </a:lnTo>
                <a:lnTo>
                  <a:pt x="6904507" y="2323130"/>
                </a:lnTo>
                <a:lnTo>
                  <a:pt x="0" y="2323130"/>
                </a:lnTo>
                <a:lnTo>
                  <a:pt x="0" y="0"/>
                </a:lnTo>
                <a:close/>
              </a:path>
            </a:pathLst>
          </a:custGeom>
          <a:blipFill>
            <a:blip r:embed="rId3"/>
            <a:stretch>
              <a:fillRect l="0" t="-1988" r="0" b="-9042"/>
            </a:stretch>
          </a:blipFill>
        </p:spPr>
      </p:sp>
      <p:sp>
        <p:nvSpPr>
          <p:cNvPr name="Freeform 16" id="16"/>
          <p:cNvSpPr/>
          <p:nvPr/>
        </p:nvSpPr>
        <p:spPr>
          <a:xfrm flipH="false" flipV="false" rot="0">
            <a:off x="10354793" y="6896783"/>
            <a:ext cx="6904507" cy="2497490"/>
          </a:xfrm>
          <a:custGeom>
            <a:avLst/>
            <a:gdLst/>
            <a:ahLst/>
            <a:cxnLst/>
            <a:rect r="r" b="b" t="t" l="l"/>
            <a:pathLst>
              <a:path h="2497490" w="6904507">
                <a:moveTo>
                  <a:pt x="0" y="0"/>
                </a:moveTo>
                <a:lnTo>
                  <a:pt x="6904507" y="0"/>
                </a:lnTo>
                <a:lnTo>
                  <a:pt x="6904507" y="2497489"/>
                </a:lnTo>
                <a:lnTo>
                  <a:pt x="0" y="2497489"/>
                </a:lnTo>
                <a:lnTo>
                  <a:pt x="0" y="0"/>
                </a:lnTo>
                <a:close/>
              </a:path>
            </a:pathLst>
          </a:custGeom>
          <a:blipFill>
            <a:blip r:embed="rId4"/>
            <a:stretch>
              <a:fillRect l="0" t="0" r="0" b="0"/>
            </a:stretch>
          </a:blipFill>
        </p:spPr>
      </p:sp>
      <p:sp>
        <p:nvSpPr>
          <p:cNvPr name="TextBox 17" id="17"/>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8" id="18"/>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9" id="19"/>
          <p:cNvSpPr txBox="true"/>
          <p:nvPr/>
        </p:nvSpPr>
        <p:spPr>
          <a:xfrm rot="0">
            <a:off x="1339983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20" id="20"/>
          <p:cNvSpPr txBox="true"/>
          <p:nvPr/>
        </p:nvSpPr>
        <p:spPr>
          <a:xfrm rot="0">
            <a:off x="17590469"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9/10</a:t>
            </a:r>
          </a:p>
        </p:txBody>
      </p:sp>
      <p:sp>
        <p:nvSpPr>
          <p:cNvPr name="TextBox 21" id="21"/>
          <p:cNvSpPr txBox="true"/>
          <p:nvPr/>
        </p:nvSpPr>
        <p:spPr>
          <a:xfrm rot="0">
            <a:off x="443112" y="229515"/>
            <a:ext cx="13642366"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Sales Trend: Sales trend pattern for important categories</a:t>
            </a:r>
          </a:p>
        </p:txBody>
      </p:sp>
      <p:grpSp>
        <p:nvGrpSpPr>
          <p:cNvPr name="Group 22" id="22"/>
          <p:cNvGrpSpPr/>
          <p:nvPr/>
        </p:nvGrpSpPr>
        <p:grpSpPr>
          <a:xfrm rot="0">
            <a:off x="10354793" y="1437680"/>
            <a:ext cx="6904507" cy="2482022"/>
            <a:chOff x="0" y="0"/>
            <a:chExt cx="9206010" cy="3309362"/>
          </a:xfrm>
        </p:grpSpPr>
        <p:sp>
          <p:nvSpPr>
            <p:cNvPr name="Freeform 23" id="23"/>
            <p:cNvSpPr/>
            <p:nvPr/>
          </p:nvSpPr>
          <p:spPr>
            <a:xfrm flipH="false" flipV="false" rot="0">
              <a:off x="0" y="269089"/>
              <a:ext cx="9206010" cy="3040273"/>
            </a:xfrm>
            <a:custGeom>
              <a:avLst/>
              <a:gdLst/>
              <a:ahLst/>
              <a:cxnLst/>
              <a:rect r="r" b="b" t="t" l="l"/>
              <a:pathLst>
                <a:path h="3040273" w="9206010">
                  <a:moveTo>
                    <a:pt x="0" y="0"/>
                  </a:moveTo>
                  <a:lnTo>
                    <a:pt x="9206010" y="0"/>
                  </a:lnTo>
                  <a:lnTo>
                    <a:pt x="9206010" y="3040273"/>
                  </a:lnTo>
                  <a:lnTo>
                    <a:pt x="0" y="3040273"/>
                  </a:lnTo>
                  <a:lnTo>
                    <a:pt x="0" y="0"/>
                  </a:lnTo>
                  <a:close/>
                </a:path>
              </a:pathLst>
            </a:custGeom>
            <a:blipFill>
              <a:blip r:embed="rId5"/>
              <a:stretch>
                <a:fillRect l="-209" t="-15620" r="-1235" b="-15620"/>
              </a:stretch>
            </a:blipFill>
          </p:spPr>
        </p:sp>
        <p:sp>
          <p:nvSpPr>
            <p:cNvPr name="Freeform 24" id="24"/>
            <p:cNvSpPr/>
            <p:nvPr/>
          </p:nvSpPr>
          <p:spPr>
            <a:xfrm flipH="false" flipV="false" rot="0">
              <a:off x="215785" y="0"/>
              <a:ext cx="8623004" cy="333198"/>
            </a:xfrm>
            <a:custGeom>
              <a:avLst/>
              <a:gdLst/>
              <a:ahLst/>
              <a:cxnLst/>
              <a:rect r="r" b="b" t="t" l="l"/>
              <a:pathLst>
                <a:path h="333198" w="8623004">
                  <a:moveTo>
                    <a:pt x="0" y="0"/>
                  </a:moveTo>
                  <a:lnTo>
                    <a:pt x="8623004" y="0"/>
                  </a:lnTo>
                  <a:lnTo>
                    <a:pt x="8623004" y="333198"/>
                  </a:lnTo>
                  <a:lnTo>
                    <a:pt x="0" y="333198"/>
                  </a:lnTo>
                  <a:lnTo>
                    <a:pt x="0" y="0"/>
                  </a:lnTo>
                  <a:close/>
                </a:path>
              </a:pathLst>
            </a:custGeom>
            <a:blipFill>
              <a:blip r:embed="rId5"/>
              <a:stretch>
                <a:fillRect l="0" t="-30350" r="-1445" b="-991331"/>
              </a:stretch>
            </a:blipFill>
          </p:spPr>
        </p:sp>
      </p:grpSp>
      <p:grpSp>
        <p:nvGrpSpPr>
          <p:cNvPr name="Group 25" id="25"/>
          <p:cNvGrpSpPr/>
          <p:nvPr/>
        </p:nvGrpSpPr>
        <p:grpSpPr>
          <a:xfrm rot="0">
            <a:off x="1423502" y="4121923"/>
            <a:ext cx="6501298" cy="2599443"/>
            <a:chOff x="0" y="0"/>
            <a:chExt cx="8668398" cy="3465924"/>
          </a:xfrm>
        </p:grpSpPr>
        <p:sp>
          <p:nvSpPr>
            <p:cNvPr name="Freeform 26" id="26"/>
            <p:cNvSpPr/>
            <p:nvPr/>
          </p:nvSpPr>
          <p:spPr>
            <a:xfrm flipH="false" flipV="false" rot="0">
              <a:off x="0" y="182283"/>
              <a:ext cx="8668398" cy="3283641"/>
            </a:xfrm>
            <a:custGeom>
              <a:avLst/>
              <a:gdLst/>
              <a:ahLst/>
              <a:cxnLst/>
              <a:rect r="r" b="b" t="t" l="l"/>
              <a:pathLst>
                <a:path h="3283641" w="8668398">
                  <a:moveTo>
                    <a:pt x="0" y="0"/>
                  </a:moveTo>
                  <a:lnTo>
                    <a:pt x="8668398" y="0"/>
                  </a:lnTo>
                  <a:lnTo>
                    <a:pt x="8668398" y="3283641"/>
                  </a:lnTo>
                  <a:lnTo>
                    <a:pt x="0" y="3283641"/>
                  </a:lnTo>
                  <a:lnTo>
                    <a:pt x="0" y="0"/>
                  </a:lnTo>
                  <a:close/>
                </a:path>
              </a:pathLst>
            </a:custGeom>
            <a:blipFill>
              <a:blip r:embed="rId6"/>
              <a:stretch>
                <a:fillRect l="0" t="-17322" r="0" b="-15681"/>
              </a:stretch>
            </a:blipFill>
          </p:spPr>
        </p:sp>
        <p:sp>
          <p:nvSpPr>
            <p:cNvPr name="Freeform 27" id="27"/>
            <p:cNvSpPr/>
            <p:nvPr/>
          </p:nvSpPr>
          <p:spPr>
            <a:xfrm flipH="false" flipV="false" rot="0">
              <a:off x="0" y="0"/>
              <a:ext cx="2267471" cy="364567"/>
            </a:xfrm>
            <a:custGeom>
              <a:avLst/>
              <a:gdLst/>
              <a:ahLst/>
              <a:cxnLst/>
              <a:rect r="r" b="b" t="t" l="l"/>
              <a:pathLst>
                <a:path h="364567" w="2267471">
                  <a:moveTo>
                    <a:pt x="0" y="0"/>
                  </a:moveTo>
                  <a:lnTo>
                    <a:pt x="2267471" y="0"/>
                  </a:lnTo>
                  <a:lnTo>
                    <a:pt x="2267471" y="364567"/>
                  </a:lnTo>
                  <a:lnTo>
                    <a:pt x="0" y="364567"/>
                  </a:lnTo>
                  <a:lnTo>
                    <a:pt x="0" y="0"/>
                  </a:lnTo>
                  <a:close/>
                </a:path>
              </a:pathLst>
            </a:custGeom>
            <a:blipFill>
              <a:blip r:embed="rId6"/>
              <a:stretch>
                <a:fillRect l="0" t="-14719" r="-207775" b="-849727"/>
              </a:stretch>
            </a:blipFill>
          </p:spPr>
        </p:sp>
      </p:grpSp>
      <p:sp>
        <p:nvSpPr>
          <p:cNvPr name="AutoShape 28" id="28"/>
          <p:cNvSpPr/>
          <p:nvPr/>
        </p:nvSpPr>
        <p:spPr>
          <a:xfrm>
            <a:off x="9139237" y="2171675"/>
            <a:ext cx="0" cy="5943650"/>
          </a:xfrm>
          <a:prstGeom prst="line">
            <a:avLst/>
          </a:prstGeom>
          <a:ln cap="flat" w="9525">
            <a:solidFill>
              <a:srgbClr val="090909"/>
            </a:solidFill>
            <a:prstDash val="solid"/>
            <a:headEnd type="none" len="sm" w="sm"/>
            <a:tailEnd type="none" len="sm" w="sm"/>
          </a:ln>
        </p:spPr>
      </p:sp>
      <p:grpSp>
        <p:nvGrpSpPr>
          <p:cNvPr name="Group 29" id="29"/>
          <p:cNvGrpSpPr/>
          <p:nvPr/>
        </p:nvGrpSpPr>
        <p:grpSpPr>
          <a:xfrm rot="0">
            <a:off x="1423502" y="6971901"/>
            <a:ext cx="6501298" cy="2278701"/>
            <a:chOff x="0" y="0"/>
            <a:chExt cx="8668398" cy="3038269"/>
          </a:xfrm>
        </p:grpSpPr>
        <p:sp>
          <p:nvSpPr>
            <p:cNvPr name="Freeform 30" id="30"/>
            <p:cNvSpPr/>
            <p:nvPr/>
          </p:nvSpPr>
          <p:spPr>
            <a:xfrm flipH="false" flipV="false" rot="0">
              <a:off x="0" y="0"/>
              <a:ext cx="8668398" cy="3038269"/>
            </a:xfrm>
            <a:custGeom>
              <a:avLst/>
              <a:gdLst/>
              <a:ahLst/>
              <a:cxnLst/>
              <a:rect r="r" b="b" t="t" l="l"/>
              <a:pathLst>
                <a:path h="3038269" w="8668398">
                  <a:moveTo>
                    <a:pt x="0" y="0"/>
                  </a:moveTo>
                  <a:lnTo>
                    <a:pt x="8668398" y="0"/>
                  </a:lnTo>
                  <a:lnTo>
                    <a:pt x="8668398" y="3038269"/>
                  </a:lnTo>
                  <a:lnTo>
                    <a:pt x="0" y="3038269"/>
                  </a:lnTo>
                  <a:lnTo>
                    <a:pt x="0" y="0"/>
                  </a:lnTo>
                  <a:close/>
                </a:path>
              </a:pathLst>
            </a:custGeom>
            <a:blipFill>
              <a:blip r:embed="rId7"/>
              <a:stretch>
                <a:fillRect l="0" t="-15277" r="0" b="-15878"/>
              </a:stretch>
            </a:blipFill>
          </p:spPr>
        </p:sp>
        <p:sp>
          <p:nvSpPr>
            <p:cNvPr name="Freeform 31" id="31"/>
            <p:cNvSpPr/>
            <p:nvPr/>
          </p:nvSpPr>
          <p:spPr>
            <a:xfrm flipH="false" flipV="false" rot="0">
              <a:off x="0" y="0"/>
              <a:ext cx="2684106" cy="269034"/>
            </a:xfrm>
            <a:custGeom>
              <a:avLst/>
              <a:gdLst/>
              <a:ahLst/>
              <a:cxnLst/>
              <a:rect r="r" b="b" t="t" l="l"/>
              <a:pathLst>
                <a:path h="269034" w="2684106">
                  <a:moveTo>
                    <a:pt x="0" y="0"/>
                  </a:moveTo>
                  <a:lnTo>
                    <a:pt x="2684106" y="0"/>
                  </a:lnTo>
                  <a:lnTo>
                    <a:pt x="2684106" y="269034"/>
                  </a:lnTo>
                  <a:lnTo>
                    <a:pt x="0" y="269034"/>
                  </a:lnTo>
                  <a:lnTo>
                    <a:pt x="0" y="0"/>
                  </a:lnTo>
                  <a:close/>
                </a:path>
              </a:pathLst>
            </a:custGeom>
            <a:blipFill>
              <a:blip r:embed="rId7"/>
              <a:stretch>
                <a:fillRect l="0" t="-26714" r="-135794" b="-954724"/>
              </a:stretch>
            </a:blipFill>
          </p:spPr>
        </p:sp>
      </p:gr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807295"/>
            <a:ext cx="18288000" cy="876849"/>
            <a:chOff x="0" y="0"/>
            <a:chExt cx="4816593" cy="230940"/>
          </a:xfrm>
        </p:grpSpPr>
        <p:sp>
          <p:nvSpPr>
            <p:cNvPr name="Freeform 3" id="3"/>
            <p:cNvSpPr/>
            <p:nvPr/>
          </p:nvSpPr>
          <p:spPr>
            <a:xfrm flipH="false" flipV="false" rot="0">
              <a:off x="0" y="0"/>
              <a:ext cx="4816592" cy="230940"/>
            </a:xfrm>
            <a:custGeom>
              <a:avLst/>
              <a:gdLst/>
              <a:ahLst/>
              <a:cxnLst/>
              <a:rect r="r" b="b" t="t" l="l"/>
              <a:pathLst>
                <a:path h="230940" w="4816592">
                  <a:moveTo>
                    <a:pt x="0" y="0"/>
                  </a:moveTo>
                  <a:lnTo>
                    <a:pt x="4816592" y="0"/>
                  </a:lnTo>
                  <a:lnTo>
                    <a:pt x="4816592" y="230940"/>
                  </a:lnTo>
                  <a:lnTo>
                    <a:pt x="0" y="230940"/>
                  </a:lnTo>
                  <a:lnTo>
                    <a:pt x="0" y="0"/>
                  </a:lnTo>
                </a:path>
              </a:pathLst>
            </a:custGeom>
            <a:solidFill>
              <a:srgbClr val="953F10"/>
            </a:soli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624053" y="9807295"/>
            <a:ext cx="7039895" cy="876849"/>
            <a:chOff x="0" y="0"/>
            <a:chExt cx="1854129" cy="230940"/>
          </a:xfrm>
        </p:grpSpPr>
        <p:sp>
          <p:nvSpPr>
            <p:cNvPr name="Freeform 6" id="6"/>
            <p:cNvSpPr/>
            <p:nvPr/>
          </p:nvSpPr>
          <p:spPr>
            <a:xfrm flipH="false" flipV="false" rot="0">
              <a:off x="0" y="0"/>
              <a:ext cx="1854129" cy="230940"/>
            </a:xfrm>
            <a:custGeom>
              <a:avLst/>
              <a:gdLst/>
              <a:ahLst/>
              <a:cxnLst/>
              <a:rect r="r" b="b" t="t" l="l"/>
              <a:pathLst>
                <a:path h="230940" w="1854129">
                  <a:moveTo>
                    <a:pt x="0" y="0"/>
                  </a:moveTo>
                  <a:lnTo>
                    <a:pt x="1854129" y="0"/>
                  </a:lnTo>
                  <a:lnTo>
                    <a:pt x="1854129" y="230940"/>
                  </a:lnTo>
                  <a:lnTo>
                    <a:pt x="0" y="230940"/>
                  </a:lnTo>
                  <a:lnTo>
                    <a:pt x="0" y="0"/>
                  </a:lnTo>
                </a:path>
              </a:pathLst>
            </a:custGeom>
            <a:solidFill>
              <a:srgbClr val="582308"/>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476949" y="9807295"/>
            <a:ext cx="1050618" cy="876849"/>
            <a:chOff x="0" y="0"/>
            <a:chExt cx="276706" cy="230940"/>
          </a:xfrm>
        </p:grpSpPr>
        <p:sp>
          <p:nvSpPr>
            <p:cNvPr name="Freeform 9" id="9"/>
            <p:cNvSpPr/>
            <p:nvPr/>
          </p:nvSpPr>
          <p:spPr>
            <a:xfrm flipH="false" flipV="false" rot="0">
              <a:off x="0" y="0"/>
              <a:ext cx="276706" cy="230940"/>
            </a:xfrm>
            <a:custGeom>
              <a:avLst/>
              <a:gdLst/>
              <a:ahLst/>
              <a:cxnLst/>
              <a:rect r="r" b="b" t="t" l="l"/>
              <a:pathLst>
                <a:path h="230940" w="276706">
                  <a:moveTo>
                    <a:pt x="0" y="0"/>
                  </a:moveTo>
                  <a:lnTo>
                    <a:pt x="276706" y="0"/>
                  </a:lnTo>
                  <a:lnTo>
                    <a:pt x="276706" y="230940"/>
                  </a:lnTo>
                  <a:lnTo>
                    <a:pt x="0" y="230940"/>
                  </a:lnTo>
                  <a:lnTo>
                    <a:pt x="0" y="0"/>
                  </a:lnTo>
                </a:path>
              </a:pathLst>
            </a:custGeom>
            <a:solidFill>
              <a:srgbClr val="58230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312638"/>
            <a:ext cx="18288000" cy="1543050"/>
            <a:chOff x="0" y="0"/>
            <a:chExt cx="4816593" cy="406400"/>
          </a:xfrm>
        </p:grpSpPr>
        <p:sp>
          <p:nvSpPr>
            <p:cNvPr name="Freeform 12" id="12"/>
            <p:cNvSpPr/>
            <p:nvPr/>
          </p:nvSpPr>
          <p:spPr>
            <a:xfrm flipH="false" flipV="false" rot="0">
              <a:off x="0" y="0"/>
              <a:ext cx="4816592" cy="406400"/>
            </a:xfrm>
            <a:custGeom>
              <a:avLst/>
              <a:gdLst/>
              <a:ahLst/>
              <a:cxnLst/>
              <a:rect r="r" b="b" t="t" l="l"/>
              <a:pathLst>
                <a:path h="406400" w="4816592">
                  <a:moveTo>
                    <a:pt x="0" y="0"/>
                  </a:moveTo>
                  <a:lnTo>
                    <a:pt x="4816592" y="0"/>
                  </a:lnTo>
                  <a:lnTo>
                    <a:pt x="4816592" y="406400"/>
                  </a:lnTo>
                  <a:lnTo>
                    <a:pt x="0" y="406400"/>
                  </a:lnTo>
                  <a:lnTo>
                    <a:pt x="0" y="0"/>
                  </a:lnTo>
                </a:path>
              </a:pathLst>
            </a:custGeom>
            <a:solidFill>
              <a:srgbClr val="953F10"/>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00834"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Soham Bhattacharya (IITM)</a:t>
            </a:r>
          </a:p>
        </p:txBody>
      </p:sp>
      <p:sp>
        <p:nvSpPr>
          <p:cNvPr name="TextBox 15" id="15"/>
          <p:cNvSpPr txBox="true"/>
          <p:nvPr/>
        </p:nvSpPr>
        <p:spPr>
          <a:xfrm rot="0">
            <a:off x="7347619" y="9843668"/>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BDM Capstone Project</a:t>
            </a:r>
          </a:p>
        </p:txBody>
      </p:sp>
      <p:sp>
        <p:nvSpPr>
          <p:cNvPr name="TextBox 16" id="16"/>
          <p:cNvSpPr txBox="true"/>
          <p:nvPr/>
        </p:nvSpPr>
        <p:spPr>
          <a:xfrm rot="0">
            <a:off x="13380788" y="9835870"/>
            <a:ext cx="3592762" cy="354426"/>
          </a:xfrm>
          <a:prstGeom prst="rect">
            <a:avLst/>
          </a:prstGeom>
        </p:spPr>
        <p:txBody>
          <a:bodyPr anchor="t" rtlCol="false" tIns="0" lIns="0" bIns="0" rIns="0">
            <a:spAutoFit/>
          </a:bodyPr>
          <a:lstStyle/>
          <a:p>
            <a:pPr algn="ctr">
              <a:lnSpc>
                <a:spcPts val="2932"/>
              </a:lnSpc>
            </a:pPr>
            <a:r>
              <a:rPr lang="en-US" sz="2094">
                <a:solidFill>
                  <a:srgbClr val="FFFFFF"/>
                </a:solidFill>
                <a:latin typeface="Canva Sans"/>
              </a:rPr>
              <a:t>August 28, 2023</a:t>
            </a:r>
          </a:p>
        </p:txBody>
      </p:sp>
      <p:sp>
        <p:nvSpPr>
          <p:cNvPr name="TextBox 17" id="17"/>
          <p:cNvSpPr txBox="true"/>
          <p:nvPr/>
        </p:nvSpPr>
        <p:spPr>
          <a:xfrm rot="0">
            <a:off x="17542844" y="9875581"/>
            <a:ext cx="697531" cy="300126"/>
          </a:xfrm>
          <a:prstGeom prst="rect">
            <a:avLst/>
          </a:prstGeom>
        </p:spPr>
        <p:txBody>
          <a:bodyPr anchor="t" rtlCol="false" tIns="0" lIns="0" bIns="0" rIns="0">
            <a:spAutoFit/>
          </a:bodyPr>
          <a:lstStyle/>
          <a:p>
            <a:pPr algn="ctr">
              <a:lnSpc>
                <a:spcPts val="2517"/>
              </a:lnSpc>
            </a:pPr>
            <a:r>
              <a:rPr lang="en-US" sz="1798">
                <a:solidFill>
                  <a:srgbClr val="FFFFFF"/>
                </a:solidFill>
                <a:latin typeface="Canva Sans"/>
              </a:rPr>
              <a:t>10/10</a:t>
            </a:r>
          </a:p>
        </p:txBody>
      </p:sp>
      <p:sp>
        <p:nvSpPr>
          <p:cNvPr name="TextBox 18" id="18"/>
          <p:cNvSpPr txBox="true"/>
          <p:nvPr/>
        </p:nvSpPr>
        <p:spPr>
          <a:xfrm rot="0">
            <a:off x="443112" y="229515"/>
            <a:ext cx="11182871" cy="663261"/>
          </a:xfrm>
          <a:prstGeom prst="rect">
            <a:avLst/>
          </a:prstGeom>
        </p:spPr>
        <p:txBody>
          <a:bodyPr anchor="t" rtlCol="false" tIns="0" lIns="0" bIns="0" rIns="0">
            <a:spAutoFit/>
          </a:bodyPr>
          <a:lstStyle/>
          <a:p>
            <a:pPr>
              <a:lnSpc>
                <a:spcPts val="5442"/>
              </a:lnSpc>
            </a:pPr>
            <a:r>
              <a:rPr lang="en-US" sz="3887">
                <a:solidFill>
                  <a:srgbClr val="FFFFFF"/>
                </a:solidFill>
                <a:latin typeface="Canva Sans"/>
              </a:rPr>
              <a:t>Sales Trend</a:t>
            </a:r>
          </a:p>
        </p:txBody>
      </p:sp>
      <p:sp>
        <p:nvSpPr>
          <p:cNvPr name="TextBox 19" id="19"/>
          <p:cNvSpPr txBox="true"/>
          <p:nvPr/>
        </p:nvSpPr>
        <p:spPr>
          <a:xfrm rot="0">
            <a:off x="1028700" y="2193324"/>
            <a:ext cx="16230600" cy="7181206"/>
          </a:xfrm>
          <a:prstGeom prst="rect">
            <a:avLst/>
          </a:prstGeom>
        </p:spPr>
        <p:txBody>
          <a:bodyPr anchor="t" rtlCol="false" tIns="0" lIns="0" bIns="0" rIns="0">
            <a:spAutoFit/>
          </a:bodyPr>
          <a:lstStyle/>
          <a:p>
            <a:pPr algn="just" marL="491246" indent="-245623" lvl="1">
              <a:lnSpc>
                <a:spcPts val="3185"/>
              </a:lnSpc>
              <a:buFont typeface="Arial"/>
              <a:buChar char="•"/>
            </a:pPr>
            <a:r>
              <a:rPr lang="en-US" sz="2275">
                <a:solidFill>
                  <a:srgbClr val="000000"/>
                </a:solidFill>
                <a:latin typeface="Canva Sans Bold"/>
              </a:rPr>
              <a:t>BE05</a:t>
            </a:r>
            <a:r>
              <a:rPr lang="en-US" sz="2275">
                <a:solidFill>
                  <a:srgbClr val="000000"/>
                </a:solidFill>
                <a:latin typeface="Canva Sans"/>
              </a:rPr>
              <a:t> is the most selling beverage at this store, followed by BE03, BE01, BE04, BE02 in that order. Since, BE02 remains quite low throughout, it is advisable to replace BE02 with a variant of BE05 or some other trending beverage in the market.</a:t>
            </a:r>
          </a:p>
          <a:p>
            <a:pPr algn="just" marL="491246" indent="-245623" lvl="1">
              <a:lnSpc>
                <a:spcPts val="3185"/>
              </a:lnSpc>
              <a:buFont typeface="Arial"/>
              <a:buChar char="•"/>
            </a:pPr>
            <a:r>
              <a:rPr lang="en-US" sz="2275">
                <a:solidFill>
                  <a:srgbClr val="000000"/>
                </a:solidFill>
                <a:latin typeface="Canva Sans Bold"/>
              </a:rPr>
              <a:t>COSM03</a:t>
            </a:r>
            <a:r>
              <a:rPr lang="en-US" sz="2275">
                <a:solidFill>
                  <a:srgbClr val="000000"/>
                </a:solidFill>
                <a:latin typeface="Canva Sans"/>
              </a:rPr>
              <a:t> is the most selling cosmetic product at this store followed by COSM01 and COSM02 in that order. Since we notice that the performance of COSM02 is very low throughout the period of four months, it is advisable to replace COSM02 with a variant of COSM03 or some other cosmetic product potentially capable of high sales in the current market.</a:t>
            </a:r>
          </a:p>
          <a:p>
            <a:pPr algn="just" marL="491246" indent="-245623" lvl="1">
              <a:lnSpc>
                <a:spcPts val="3185"/>
              </a:lnSpc>
              <a:buFont typeface="Arial"/>
              <a:buChar char="•"/>
            </a:pPr>
            <a:r>
              <a:rPr lang="en-US" sz="2275">
                <a:solidFill>
                  <a:srgbClr val="000000"/>
                </a:solidFill>
                <a:latin typeface="Canva Sans Bold"/>
              </a:rPr>
              <a:t>WMPE02</a:t>
            </a:r>
            <a:r>
              <a:rPr lang="en-US" sz="2275">
                <a:solidFill>
                  <a:srgbClr val="000000"/>
                </a:solidFill>
                <a:latin typeface="Canva Sans"/>
              </a:rPr>
              <a:t> is the most selling pencil at this store followed by WMPE01 and WMPE03. We notice that WMPE03 is significantly low during the entire period of four months. Hence, it is advisable to replace WMPE03 with a variant of WMPE02 or some new product potentially capable of high sales in the current market.</a:t>
            </a:r>
          </a:p>
          <a:p>
            <a:pPr algn="just" marL="491246" indent="-245623" lvl="1">
              <a:lnSpc>
                <a:spcPts val="3185"/>
              </a:lnSpc>
              <a:buFont typeface="Arial"/>
              <a:buChar char="•"/>
            </a:pPr>
            <a:r>
              <a:rPr lang="en-US" sz="2275">
                <a:solidFill>
                  <a:srgbClr val="000000"/>
                </a:solidFill>
                <a:latin typeface="Canva Sans Bold"/>
              </a:rPr>
              <a:t>WMP01</a:t>
            </a:r>
            <a:r>
              <a:rPr lang="en-US" sz="2275">
                <a:solidFill>
                  <a:srgbClr val="000000"/>
                </a:solidFill>
                <a:latin typeface="Canva Sans"/>
              </a:rPr>
              <a:t> is the better selling pen at this store than WMP02. We found that pen contribute less in the net revenue and there is no distinctive drop in the sales pattern, and hence introduction of variety of pens is advisable.</a:t>
            </a:r>
          </a:p>
          <a:p>
            <a:pPr algn="just" marL="491246" indent="-245623" lvl="1">
              <a:lnSpc>
                <a:spcPts val="3185"/>
              </a:lnSpc>
              <a:buFont typeface="Arial"/>
              <a:buChar char="•"/>
            </a:pPr>
            <a:r>
              <a:rPr lang="en-US" sz="2275">
                <a:solidFill>
                  <a:srgbClr val="000000"/>
                </a:solidFill>
                <a:latin typeface="Canva Sans"/>
              </a:rPr>
              <a:t>There is only one product for </a:t>
            </a:r>
            <a:r>
              <a:rPr lang="en-US" sz="2275">
                <a:solidFill>
                  <a:srgbClr val="000000"/>
                </a:solidFill>
                <a:latin typeface="Canva Sans Bold"/>
              </a:rPr>
              <a:t>Erasers</a:t>
            </a:r>
            <a:r>
              <a:rPr lang="en-US" sz="2275">
                <a:solidFill>
                  <a:srgbClr val="000000"/>
                </a:solidFill>
                <a:latin typeface="Canva Sans"/>
              </a:rPr>
              <a:t>. It has an oscillating trend pattern in its sales. Erasers contribute the least in the net revenue generation. We know pencils and erasers are complements; since pencils are one of the highest selling products at this store, it advisable to replace WME01 with a variety of erasers.</a:t>
            </a:r>
          </a:p>
          <a:p>
            <a:pPr algn="just" marL="491246" indent="-245623" lvl="1">
              <a:lnSpc>
                <a:spcPts val="3185"/>
              </a:lnSpc>
              <a:buFont typeface="Arial"/>
              <a:buChar char="•"/>
            </a:pPr>
            <a:r>
              <a:rPr lang="en-US" sz="2275">
                <a:solidFill>
                  <a:srgbClr val="000000"/>
                </a:solidFill>
                <a:latin typeface="Canva Sans Bold"/>
              </a:rPr>
              <a:t>WMF01</a:t>
            </a:r>
            <a:r>
              <a:rPr lang="en-US" sz="2275">
                <a:solidFill>
                  <a:srgbClr val="000000"/>
                </a:solidFill>
                <a:latin typeface="Canva Sans"/>
              </a:rPr>
              <a:t> is the highest selling file at this store. Since, there is no significant difference in sales with the other products WMF02 and WMF03. increasing the inventory space for this category maybe done to increase the net revenue generated.</a:t>
            </a:r>
          </a:p>
        </p:txBody>
      </p:sp>
      <p:sp>
        <p:nvSpPr>
          <p:cNvPr name="TextBox 20" id="20"/>
          <p:cNvSpPr txBox="true"/>
          <p:nvPr/>
        </p:nvSpPr>
        <p:spPr>
          <a:xfrm rot="0">
            <a:off x="900834" y="1391199"/>
            <a:ext cx="9516173" cy="612764"/>
          </a:xfrm>
          <a:prstGeom prst="rect">
            <a:avLst/>
          </a:prstGeom>
        </p:spPr>
        <p:txBody>
          <a:bodyPr anchor="t" rtlCol="false" tIns="0" lIns="0" bIns="0" rIns="0">
            <a:spAutoFit/>
          </a:bodyPr>
          <a:lstStyle/>
          <a:p>
            <a:pPr>
              <a:lnSpc>
                <a:spcPts val="5075"/>
              </a:lnSpc>
            </a:pPr>
            <a:r>
              <a:rPr lang="en-US" sz="3625">
                <a:solidFill>
                  <a:srgbClr val="000000"/>
                </a:solidFill>
                <a:latin typeface="Canva Sans Bold"/>
              </a:rPr>
              <a:t>Observations based on the trend patterns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DAFsoDR6yGs</dc:identifier>
  <dcterms:modified xsi:type="dcterms:W3CDTF">2011-08-01T06:04:30Z</dcterms:modified>
  <cp:revision>1</cp:revision>
  <dc:title>21f3001729 - Capstone Project Presentation</dc:title>
</cp:coreProperties>
</file>